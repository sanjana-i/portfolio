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notesSlides/notesSlide5.xml" ContentType="application/vnd.openxmlformats-officedocument.presentationml.notesSlide+xml"/>
  <Override PartName="/ppt/charts/chart2.xml" ContentType="application/vnd.openxmlformats-officedocument.drawingml.chart+xml"/>
  <Override PartName="/ppt/notesSlides/notesSlide6.xml" ContentType="application/vnd.openxmlformats-officedocument.presentationml.notesSlide+xml"/>
  <Override PartName="/ppt/charts/chart3.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4B8D"/>
    <a:srgbClr val="4F227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94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stacked"/>
        <c:varyColors val="0"/>
        <c:ser>
          <c:idx val="0"/>
          <c:order val="0"/>
          <c:tx>
            <c:strRef>
              <c:f>Sheet1!$B$1</c:f>
              <c:strCache>
                <c:ptCount val="1"/>
                <c:pt idx="0">
                  <c:v>Member</c:v>
                </c:pt>
              </c:strCache>
            </c:strRef>
          </c:tx>
          <c:spPr>
            <a:solidFill>
              <a:schemeClr val="accent6">
                <a:lumMod val="40000"/>
                <a:lumOff val="60000"/>
              </a:schemeClr>
            </a:solidFill>
            <a:effectLst/>
          </c:spPr>
          <c:invertIfNegative val="0"/>
          <c:dLbls>
            <c:numFmt formatCode="#,##0" sourceLinked="0"/>
            <c:spPr>
              <a:noFill/>
              <a:ln>
                <a:noFill/>
              </a:ln>
              <a:effectLst/>
            </c:spPr>
            <c:txPr>
              <a:bodyPr/>
              <a:lstStyle/>
              <a:p>
                <a:pPr>
                  <a:defRPr sz="10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Sheet1!$A$2:$A$11</c:f>
              <c:strCache>
                <c:ptCount val="10"/>
                <c:pt idx="0">
                  <c:v>Clark St &amp; Schiller St</c:v>
                </c:pt>
                <c:pt idx="1">
                  <c:v>Larrabee St &amp; Webster Ave</c:v>
                </c:pt>
                <c:pt idx="2">
                  <c:v>Stockton Dr &amp; Wrightwood Ave</c:v>
                </c:pt>
                <c:pt idx="3">
                  <c:v>Broadway &amp; Barry Ave</c:v>
                </c:pt>
                <c:pt idx="4">
                  <c:v>Wabash Ave &amp; Grand Ave</c:v>
                </c:pt>
                <c:pt idx="5">
                  <c:v>Clark St &amp; Armitage Ave</c:v>
                </c:pt>
                <c:pt idx="6">
                  <c:v>St. Clair St &amp; Erie St</c:v>
                </c:pt>
                <c:pt idx="7">
                  <c:v>Desplaines St &amp; Kinzie St</c:v>
                </c:pt>
                <c:pt idx="8">
                  <c:v>Dearborn St &amp; Erie St</c:v>
                </c:pt>
                <c:pt idx="9">
                  <c:v>Clark St &amp; Elm St</c:v>
                </c:pt>
              </c:strCache>
            </c:strRef>
          </c:cat>
          <c:val>
            <c:numRef>
              <c:f>Sheet1!$B$2:$B$11</c:f>
              <c:numCache>
                <c:formatCode>General</c:formatCode>
                <c:ptCount val="10"/>
                <c:pt idx="0">
                  <c:v>407</c:v>
                </c:pt>
                <c:pt idx="1">
                  <c:v>404</c:v>
                </c:pt>
                <c:pt idx="2">
                  <c:v>420</c:v>
                </c:pt>
                <c:pt idx="3">
                  <c:v>444</c:v>
                </c:pt>
                <c:pt idx="4">
                  <c:v>408</c:v>
                </c:pt>
                <c:pt idx="5">
                  <c:v>451</c:v>
                </c:pt>
                <c:pt idx="6">
                  <c:v>593</c:v>
                </c:pt>
                <c:pt idx="7">
                  <c:v>516</c:v>
                </c:pt>
                <c:pt idx="8">
                  <c:v>545</c:v>
                </c:pt>
                <c:pt idx="9">
                  <c:v>604</c:v>
                </c:pt>
              </c:numCache>
            </c:numRef>
          </c:val>
        </c:ser>
        <c:ser>
          <c:idx val="1"/>
          <c:order val="1"/>
          <c:tx>
            <c:strRef>
              <c:f>Sheet1!$C$1</c:f>
              <c:strCache>
                <c:ptCount val="1"/>
                <c:pt idx="0">
                  <c:v>Casual</c:v>
                </c:pt>
              </c:strCache>
            </c:strRef>
          </c:tx>
          <c:spPr>
            <a:solidFill>
              <a:srgbClr val="3B6FA6"/>
            </a:solidFill>
            <a:effectLst/>
          </c:spPr>
          <c:invertIfNegative val="0"/>
          <c:dLbls>
            <c:numFmt formatCode="#,##0" sourceLinked="0"/>
            <c:spPr>
              <a:noFill/>
              <a:ln>
                <a:noFill/>
              </a:ln>
              <a:effectLst/>
            </c:spPr>
            <c:txPr>
              <a:bodyPr/>
              <a:lstStyle/>
              <a:p>
                <a:pPr>
                  <a:defRPr sz="10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Sheet1!$A$2:$A$11</c:f>
              <c:strCache>
                <c:ptCount val="10"/>
                <c:pt idx="0">
                  <c:v>Clark St &amp; Schiller St</c:v>
                </c:pt>
                <c:pt idx="1">
                  <c:v>Larrabee St &amp; Webster Ave</c:v>
                </c:pt>
                <c:pt idx="2">
                  <c:v>Stockton Dr &amp; Wrightwood Ave</c:v>
                </c:pt>
                <c:pt idx="3">
                  <c:v>Broadway &amp; Barry Ave</c:v>
                </c:pt>
                <c:pt idx="4">
                  <c:v>Wabash Ave &amp; Grand Ave</c:v>
                </c:pt>
                <c:pt idx="5">
                  <c:v>Clark St &amp; Armitage Ave</c:v>
                </c:pt>
                <c:pt idx="6">
                  <c:v>St. Clair St &amp; Erie St</c:v>
                </c:pt>
                <c:pt idx="7">
                  <c:v>Desplaines St &amp; Kinzie St</c:v>
                </c:pt>
                <c:pt idx="8">
                  <c:v>Dearborn St &amp; Erie St</c:v>
                </c:pt>
                <c:pt idx="9">
                  <c:v>Clark St &amp; Elm St</c:v>
                </c:pt>
              </c:strCache>
            </c:strRef>
          </c:cat>
          <c:val>
            <c:numRef>
              <c:f>Sheet1!$C$2:$C$11</c:f>
              <c:numCache>
                <c:formatCode>General</c:formatCode>
                <c:ptCount val="10"/>
                <c:pt idx="0">
                  <c:v>169</c:v>
                </c:pt>
                <c:pt idx="1">
                  <c:v>172</c:v>
                </c:pt>
                <c:pt idx="2">
                  <c:v>164</c:v>
                </c:pt>
                <c:pt idx="3">
                  <c:v>161</c:v>
                </c:pt>
                <c:pt idx="4">
                  <c:v>206</c:v>
                </c:pt>
                <c:pt idx="5">
                  <c:v>175</c:v>
                </c:pt>
                <c:pt idx="6">
                  <c:v>93</c:v>
                </c:pt>
                <c:pt idx="7">
                  <c:v>204</c:v>
                </c:pt>
                <c:pt idx="8">
                  <c:v>185</c:v>
                </c:pt>
                <c:pt idx="9">
                  <c:v>246</c:v>
                </c:pt>
              </c:numCache>
            </c:numRef>
          </c:val>
        </c:ser>
        <c:dLbls>
          <c:dLblPos val="ctr"/>
          <c:showLegendKey val="0"/>
          <c:showVal val="1"/>
          <c:showCatName val="0"/>
          <c:showSerName val="0"/>
          <c:showPercent val="0"/>
          <c:showBubbleSize val="0"/>
        </c:dLbls>
        <c:gapWidth val="50"/>
        <c:overlap val="100"/>
        <c:axId val="233559600"/>
        <c:axId val="233547088"/>
      </c:barChart>
      <c:catAx>
        <c:axId val="233559600"/>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A3A"/>
                </a:solidFill>
                <a:latin typeface="+mn-lt"/>
              </a:defRPr>
            </a:pPr>
            <a:endParaRPr lang="en-US"/>
          </a:p>
        </c:txPr>
        <c:crossAx val="233547088"/>
        <c:crosses val="autoZero"/>
        <c:auto val="1"/>
        <c:lblAlgn val="ctr"/>
        <c:lblOffset val="100"/>
        <c:noMultiLvlLbl val="1"/>
      </c:catAx>
      <c:valAx>
        <c:axId val="233547088"/>
        <c:scaling>
          <c:orientation val="minMax"/>
        </c:scaling>
        <c:delete val="0"/>
        <c:axPos val="b"/>
        <c:majorGridlines>
          <c:spPr>
            <a:ln w="6350" cap="flat">
              <a:solidFill>
                <a:srgbClr val="DDE3EA"/>
              </a:solidFill>
              <a:prstDash val="solid"/>
              <a:round/>
            </a:ln>
          </c:spPr>
        </c:majorGridlines>
        <c:title>
          <c:tx>
            <c:rich>
              <a:bodyPr/>
              <a:lstStyle/>
              <a:p>
                <a:pPr>
                  <a:defRPr sz="1000" b="0" i="0" u="none" strike="noStrike">
                    <a:solidFill>
                      <a:srgbClr val="5B6B7B"/>
                    </a:solidFill>
                    <a:latin typeface="+mn-lt"/>
                  </a:defRPr>
                </a:pPr>
                <a:r>
                  <a:rPr lang="en-US" sz="1000" b="0" i="0" u="none" strike="noStrike">
                    <a:solidFill>
                      <a:srgbClr val="5B6B7B"/>
                    </a:solidFill>
                    <a:latin typeface="+mn-lt"/>
                  </a:rPr>
                  <a:t>Distinct rides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33559600"/>
        <c:crosses val="autoZero"/>
        <c:crossBetween val="between"/>
      </c:valAx>
      <c:spPr>
        <a:noFill/>
        <a:ln>
          <a:noFill/>
        </a:ln>
        <a:effectLst/>
      </c:spPr>
    </c:plotArea>
    <c:legend>
      <c:legendPos val="b"/>
      <c:layout/>
      <c:overlay val="0"/>
      <c:txPr>
        <a:bodyPr/>
        <a:lstStyle/>
        <a:p>
          <a:pPr>
            <a:defRPr sz="1000">
              <a:solidFill>
                <a:srgbClr val="1B2A3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stacked"/>
        <c:varyColors val="0"/>
        <c:ser>
          <c:idx val="0"/>
          <c:order val="0"/>
          <c:tx>
            <c:strRef>
              <c:f>Sheet1!$B$1</c:f>
              <c:strCache>
                <c:ptCount val="1"/>
                <c:pt idx="0">
                  <c:v>Member</c:v>
                </c:pt>
              </c:strCache>
            </c:strRef>
          </c:tx>
          <c:spPr>
            <a:solidFill>
              <a:schemeClr val="accent6">
                <a:lumMod val="40000"/>
                <a:lumOff val="60000"/>
              </a:schemeClr>
            </a:solidFill>
            <a:effectLst/>
          </c:spPr>
          <c:invertIfNegative val="0"/>
          <c:dLbls>
            <c:numFmt formatCode="#,##0" sourceLinked="0"/>
            <c:spPr>
              <a:noFill/>
              <a:ln>
                <a:noFill/>
              </a:ln>
              <a:effectLst/>
            </c:spPr>
            <c:txPr>
              <a:bodyPr/>
              <a:lstStyle/>
              <a:p>
                <a:pPr>
                  <a:defRPr sz="10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Sheet1!$A$2:$A$11</c:f>
              <c:strCache>
                <c:ptCount val="10"/>
                <c:pt idx="0">
                  <c:v>Wells St &amp; Concord Ln</c:v>
                </c:pt>
                <c:pt idx="1">
                  <c:v>Clark St &amp; Armitage Ave</c:v>
                </c:pt>
                <c:pt idx="2">
                  <c:v>Wabash Ave &amp; Grand Ave</c:v>
                </c:pt>
                <c:pt idx="3">
                  <c:v>Larrabee St &amp; Webster Ave</c:v>
                </c:pt>
                <c:pt idx="4">
                  <c:v>Wabash Ave &amp; Roosevelt Rd</c:v>
                </c:pt>
                <c:pt idx="5">
                  <c:v>Broadway &amp; Barry Ave</c:v>
                </c:pt>
                <c:pt idx="6">
                  <c:v>Desplaines St &amp; Kinzie St</c:v>
                </c:pt>
                <c:pt idx="7">
                  <c:v>St. Clair St &amp; Erie St</c:v>
                </c:pt>
                <c:pt idx="8">
                  <c:v>Dearborn St &amp; Erie St</c:v>
                </c:pt>
                <c:pt idx="9">
                  <c:v>Clark St &amp; Elm St</c:v>
                </c:pt>
              </c:strCache>
            </c:strRef>
          </c:cat>
          <c:val>
            <c:numRef>
              <c:f>Sheet1!$B$2:$B$11</c:f>
              <c:numCache>
                <c:formatCode>General</c:formatCode>
                <c:ptCount val="10"/>
                <c:pt idx="0">
                  <c:v>435</c:v>
                </c:pt>
                <c:pt idx="1">
                  <c:v>432</c:v>
                </c:pt>
                <c:pt idx="2">
                  <c:v>427</c:v>
                </c:pt>
                <c:pt idx="3">
                  <c:v>446</c:v>
                </c:pt>
                <c:pt idx="4">
                  <c:v>489</c:v>
                </c:pt>
                <c:pt idx="5">
                  <c:v>511</c:v>
                </c:pt>
                <c:pt idx="6">
                  <c:v>508</c:v>
                </c:pt>
                <c:pt idx="7">
                  <c:v>616</c:v>
                </c:pt>
                <c:pt idx="8">
                  <c:v>587</c:v>
                </c:pt>
                <c:pt idx="9">
                  <c:v>675</c:v>
                </c:pt>
              </c:numCache>
            </c:numRef>
          </c:val>
        </c:ser>
        <c:ser>
          <c:idx val="1"/>
          <c:order val="1"/>
          <c:tx>
            <c:strRef>
              <c:f>Sheet1!$C$1</c:f>
              <c:strCache>
                <c:ptCount val="1"/>
                <c:pt idx="0">
                  <c:v>Casual</c:v>
                </c:pt>
              </c:strCache>
            </c:strRef>
          </c:tx>
          <c:spPr>
            <a:solidFill>
              <a:srgbClr val="3B6FA6"/>
            </a:solidFill>
            <a:effectLst/>
          </c:spPr>
          <c:invertIfNegative val="0"/>
          <c:dLbls>
            <c:numFmt formatCode="#,##0" sourceLinked="0"/>
            <c:spPr>
              <a:noFill/>
              <a:ln>
                <a:noFill/>
              </a:ln>
              <a:effectLst/>
            </c:spPr>
            <c:txPr>
              <a:bodyPr/>
              <a:lstStyle/>
              <a:p>
                <a:pPr>
                  <a:defRPr sz="10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Sheet1!$A$2:$A$11</c:f>
              <c:strCache>
                <c:ptCount val="10"/>
                <c:pt idx="0">
                  <c:v>Wells St &amp; Concord Ln</c:v>
                </c:pt>
                <c:pt idx="1">
                  <c:v>Clark St &amp; Armitage Ave</c:v>
                </c:pt>
                <c:pt idx="2">
                  <c:v>Wabash Ave &amp; Grand Ave</c:v>
                </c:pt>
                <c:pt idx="3">
                  <c:v>Larrabee St &amp; Webster Ave</c:v>
                </c:pt>
                <c:pt idx="4">
                  <c:v>Wabash Ave &amp; Roosevelt Rd</c:v>
                </c:pt>
                <c:pt idx="5">
                  <c:v>Broadway &amp; Barry Ave</c:v>
                </c:pt>
                <c:pt idx="6">
                  <c:v>Desplaines St &amp; Kinzie St</c:v>
                </c:pt>
                <c:pt idx="7">
                  <c:v>St. Clair St &amp; Erie St</c:v>
                </c:pt>
                <c:pt idx="8">
                  <c:v>Dearborn St &amp; Erie St</c:v>
                </c:pt>
                <c:pt idx="9">
                  <c:v>Clark St &amp; Elm St</c:v>
                </c:pt>
              </c:strCache>
            </c:strRef>
          </c:cat>
          <c:val>
            <c:numRef>
              <c:f>Sheet1!$C$2:$C$11</c:f>
              <c:numCache>
                <c:formatCode>General</c:formatCode>
                <c:ptCount val="10"/>
                <c:pt idx="0">
                  <c:v>132</c:v>
                </c:pt>
                <c:pt idx="1">
                  <c:v>163</c:v>
                </c:pt>
                <c:pt idx="2">
                  <c:v>179</c:v>
                </c:pt>
                <c:pt idx="3">
                  <c:v>166</c:v>
                </c:pt>
                <c:pt idx="4">
                  <c:v>154</c:v>
                </c:pt>
                <c:pt idx="5">
                  <c:v>164</c:v>
                </c:pt>
                <c:pt idx="6">
                  <c:v>170</c:v>
                </c:pt>
                <c:pt idx="7">
                  <c:v>79</c:v>
                </c:pt>
                <c:pt idx="8">
                  <c:v>198</c:v>
                </c:pt>
                <c:pt idx="9">
                  <c:v>218</c:v>
                </c:pt>
              </c:numCache>
            </c:numRef>
          </c:val>
        </c:ser>
        <c:dLbls>
          <c:dLblPos val="ctr"/>
          <c:showLegendKey val="0"/>
          <c:showVal val="1"/>
          <c:showCatName val="0"/>
          <c:showSerName val="0"/>
          <c:showPercent val="0"/>
          <c:showBubbleSize val="0"/>
        </c:dLbls>
        <c:gapWidth val="50"/>
        <c:overlap val="100"/>
        <c:axId val="233555792"/>
        <c:axId val="233548720"/>
      </c:barChart>
      <c:catAx>
        <c:axId val="233555792"/>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A3A"/>
                </a:solidFill>
                <a:latin typeface="+mn-lt"/>
              </a:defRPr>
            </a:pPr>
            <a:endParaRPr lang="en-US"/>
          </a:p>
        </c:txPr>
        <c:crossAx val="233548720"/>
        <c:crosses val="autoZero"/>
        <c:auto val="1"/>
        <c:lblAlgn val="ctr"/>
        <c:lblOffset val="100"/>
        <c:noMultiLvlLbl val="1"/>
      </c:catAx>
      <c:valAx>
        <c:axId val="233548720"/>
        <c:scaling>
          <c:orientation val="minMax"/>
        </c:scaling>
        <c:delete val="0"/>
        <c:axPos val="b"/>
        <c:majorGridlines>
          <c:spPr>
            <a:ln w="6350" cap="flat">
              <a:solidFill>
                <a:srgbClr val="DDE3EA"/>
              </a:solidFill>
              <a:prstDash val="solid"/>
              <a:round/>
            </a:ln>
          </c:spPr>
        </c:majorGridlines>
        <c:title>
          <c:tx>
            <c:rich>
              <a:bodyPr/>
              <a:lstStyle/>
              <a:p>
                <a:pPr>
                  <a:defRPr sz="1000" b="0" i="0" u="none" strike="noStrike">
                    <a:solidFill>
                      <a:srgbClr val="5B6B7B"/>
                    </a:solidFill>
                    <a:latin typeface="+mn-lt"/>
                  </a:defRPr>
                </a:pPr>
                <a:r>
                  <a:rPr lang="en-US" sz="1000" b="0" i="0" u="none" strike="noStrike">
                    <a:solidFill>
                      <a:srgbClr val="5B6B7B"/>
                    </a:solidFill>
                    <a:latin typeface="+mn-lt"/>
                  </a:rPr>
                  <a:t>Distinct rides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233555792"/>
        <c:crosses val="autoZero"/>
        <c:crossBetween val="between"/>
      </c:valAx>
      <c:spPr>
        <a:noFill/>
        <a:ln>
          <a:noFill/>
        </a:ln>
        <a:effectLst/>
      </c:spPr>
    </c:plotArea>
    <c:legend>
      <c:legendPos val="b"/>
      <c:layout/>
      <c:overlay val="0"/>
      <c:txPr>
        <a:bodyPr/>
        <a:lstStyle/>
        <a:p>
          <a:pPr>
            <a:defRPr sz="1000">
              <a:solidFill>
                <a:srgbClr val="1B2A3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autoTitleDeleted val="1"/>
    <c:plotArea>
      <c:layout/>
      <c:barChart>
        <c:barDir val="bar"/>
        <c:grouping val="stacked"/>
        <c:varyColors val="0"/>
        <c:ser>
          <c:idx val="0"/>
          <c:order val="0"/>
          <c:tx>
            <c:strRef>
              <c:f>Sheet1!$B$1</c:f>
              <c:strCache>
                <c:ptCount val="1"/>
                <c:pt idx="0">
                  <c:v>Member</c:v>
                </c:pt>
              </c:strCache>
            </c:strRef>
          </c:tx>
          <c:spPr>
            <a:solidFill>
              <a:schemeClr val="accent6">
                <a:lumMod val="40000"/>
                <a:lumOff val="60000"/>
              </a:schemeClr>
            </a:solidFill>
            <a:effectLst/>
          </c:spPr>
          <c:invertIfNegative val="0"/>
          <c:dLbls>
            <c:numFmt formatCode="#,##0" sourceLinked="0"/>
            <c:spPr>
              <a:noFill/>
              <a:ln>
                <a:noFill/>
              </a:ln>
              <a:effectLst/>
            </c:spPr>
            <c:txPr>
              <a:bodyPr/>
              <a:lstStyle/>
              <a:p>
                <a:pPr>
                  <a:defRPr sz="10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Sheet1!$A$2:$A$11</c:f>
              <c:strCache>
                <c:ptCount val="10"/>
                <c:pt idx="0">
                  <c:v>Federal St &amp; Polk St</c:v>
                </c:pt>
                <c:pt idx="1">
                  <c:v>California Ave &amp; Montrose Ave</c:v>
                </c:pt>
                <c:pt idx="2">
                  <c:v>Wells St &amp; Elm St</c:v>
                </c:pt>
                <c:pt idx="3">
                  <c:v>Clarendon Ave &amp; Gordon Ter</c:v>
                </c:pt>
                <c:pt idx="4">
                  <c:v>Dearborn St &amp; Erie St</c:v>
                </c:pt>
                <c:pt idx="5">
                  <c:v>Wabash Ave &amp; Grand Ave</c:v>
                </c:pt>
                <c:pt idx="6">
                  <c:v>Larrabee St &amp; Webster Ave</c:v>
                </c:pt>
                <c:pt idx="7">
                  <c:v>Clark St &amp; Elm St</c:v>
                </c:pt>
                <c:pt idx="8">
                  <c:v>Indiana Ave &amp; Roosevelt Rd</c:v>
                </c:pt>
                <c:pt idx="9">
                  <c:v>Stockton Dr &amp; Wrightwood Ave</c:v>
                </c:pt>
              </c:strCache>
            </c:strRef>
          </c:cat>
          <c:val>
            <c:numRef>
              <c:f>Sheet1!$B$2:$B$11</c:f>
              <c:numCache>
                <c:formatCode>General</c:formatCode>
                <c:ptCount val="10"/>
                <c:pt idx="0">
                  <c:v>59</c:v>
                </c:pt>
                <c:pt idx="1">
                  <c:v>61</c:v>
                </c:pt>
                <c:pt idx="2">
                  <c:v>34</c:v>
                </c:pt>
                <c:pt idx="3">
                  <c:v>71</c:v>
                </c:pt>
                <c:pt idx="4">
                  <c:v>65</c:v>
                </c:pt>
                <c:pt idx="5">
                  <c:v>52</c:v>
                </c:pt>
                <c:pt idx="6">
                  <c:v>71</c:v>
                </c:pt>
                <c:pt idx="7">
                  <c:v>57</c:v>
                </c:pt>
                <c:pt idx="8">
                  <c:v>44</c:v>
                </c:pt>
                <c:pt idx="9">
                  <c:v>46</c:v>
                </c:pt>
              </c:numCache>
            </c:numRef>
          </c:val>
        </c:ser>
        <c:ser>
          <c:idx val="1"/>
          <c:order val="1"/>
          <c:tx>
            <c:strRef>
              <c:f>Sheet1!$C$1</c:f>
              <c:strCache>
                <c:ptCount val="1"/>
                <c:pt idx="0">
                  <c:v>Casual</c:v>
                </c:pt>
              </c:strCache>
            </c:strRef>
          </c:tx>
          <c:spPr>
            <a:solidFill>
              <a:srgbClr val="3B6FA6"/>
            </a:solidFill>
            <a:effectLst/>
          </c:spPr>
          <c:invertIfNegative val="0"/>
          <c:dLbls>
            <c:numFmt formatCode="#,##0" sourceLinked="0"/>
            <c:spPr>
              <a:noFill/>
              <a:ln>
                <a:noFill/>
              </a:ln>
              <a:effectLst/>
            </c:spPr>
            <c:txPr>
              <a:bodyPr/>
              <a:lstStyle/>
              <a:p>
                <a:pPr>
                  <a:defRPr sz="1000" b="0" i="0" u="none" strike="noStrike">
                    <a:solidFill>
                      <a:srgbClr val="FFFFFF"/>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Sheet1!$A$2:$A$11</c:f>
              <c:strCache>
                <c:ptCount val="10"/>
                <c:pt idx="0">
                  <c:v>Federal St &amp; Polk St</c:v>
                </c:pt>
                <c:pt idx="1">
                  <c:v>California Ave &amp; Montrose Ave</c:v>
                </c:pt>
                <c:pt idx="2">
                  <c:v>Wells St &amp; Elm St</c:v>
                </c:pt>
                <c:pt idx="3">
                  <c:v>Clarendon Ave &amp; Gordon Ter</c:v>
                </c:pt>
                <c:pt idx="4">
                  <c:v>Dearborn St &amp; Erie St</c:v>
                </c:pt>
                <c:pt idx="5">
                  <c:v>Wabash Ave &amp; Grand Ave</c:v>
                </c:pt>
                <c:pt idx="6">
                  <c:v>Larrabee St &amp; Webster Ave</c:v>
                </c:pt>
                <c:pt idx="7">
                  <c:v>Clark St &amp; Elm St</c:v>
                </c:pt>
                <c:pt idx="8">
                  <c:v>Indiana Ave &amp; Roosevelt Rd</c:v>
                </c:pt>
                <c:pt idx="9">
                  <c:v>Stockton Dr &amp; Wrightwood Ave</c:v>
                </c:pt>
              </c:strCache>
            </c:strRef>
          </c:cat>
          <c:val>
            <c:numRef>
              <c:f>Sheet1!$C$2:$C$11</c:f>
              <c:numCache>
                <c:formatCode>General</c:formatCode>
                <c:ptCount val="10"/>
                <c:pt idx="0">
                  <c:v>28</c:v>
                </c:pt>
                <c:pt idx="1">
                  <c:v>29</c:v>
                </c:pt>
                <c:pt idx="2">
                  <c:v>60</c:v>
                </c:pt>
                <c:pt idx="3">
                  <c:v>30</c:v>
                </c:pt>
                <c:pt idx="4">
                  <c:v>36</c:v>
                </c:pt>
                <c:pt idx="5">
                  <c:v>49</c:v>
                </c:pt>
                <c:pt idx="6">
                  <c:v>39</c:v>
                </c:pt>
                <c:pt idx="7">
                  <c:v>54</c:v>
                </c:pt>
                <c:pt idx="8">
                  <c:v>69</c:v>
                </c:pt>
                <c:pt idx="9">
                  <c:v>73</c:v>
                </c:pt>
              </c:numCache>
            </c:numRef>
          </c:val>
        </c:ser>
        <c:dLbls>
          <c:dLblPos val="ctr"/>
          <c:showLegendKey val="0"/>
          <c:showVal val="1"/>
          <c:showCatName val="0"/>
          <c:showSerName val="0"/>
          <c:showPercent val="0"/>
          <c:showBubbleSize val="0"/>
        </c:dLbls>
        <c:gapWidth val="50"/>
        <c:overlap val="100"/>
        <c:axId val="344297184"/>
        <c:axId val="344301536"/>
      </c:barChart>
      <c:catAx>
        <c:axId val="34429718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A3A"/>
                </a:solidFill>
                <a:latin typeface="+mn-lt"/>
              </a:defRPr>
            </a:pPr>
            <a:endParaRPr lang="en-US"/>
          </a:p>
        </c:txPr>
        <c:crossAx val="344301536"/>
        <c:crosses val="autoZero"/>
        <c:auto val="1"/>
        <c:lblAlgn val="ctr"/>
        <c:lblOffset val="100"/>
        <c:noMultiLvlLbl val="1"/>
      </c:catAx>
      <c:valAx>
        <c:axId val="344301536"/>
        <c:scaling>
          <c:orientation val="minMax"/>
        </c:scaling>
        <c:delete val="0"/>
        <c:axPos val="b"/>
        <c:majorGridlines>
          <c:spPr>
            <a:ln w="6350" cap="flat">
              <a:solidFill>
                <a:srgbClr val="DDE3EA"/>
              </a:solidFill>
              <a:prstDash val="solid"/>
              <a:round/>
            </a:ln>
          </c:spPr>
        </c:majorGridlines>
        <c:title>
          <c:tx>
            <c:rich>
              <a:bodyPr/>
              <a:lstStyle/>
              <a:p>
                <a:pPr>
                  <a:defRPr sz="1000" b="0" i="0" u="none" strike="noStrike">
                    <a:solidFill>
                      <a:srgbClr val="5B6B7B"/>
                    </a:solidFill>
                    <a:latin typeface="+mn-lt"/>
                  </a:defRPr>
                </a:pPr>
                <a:r>
                  <a:rPr lang="en-US" sz="1000" b="0" i="0" u="none" strike="noStrike">
                    <a:solidFill>
                      <a:srgbClr val="5B6B7B"/>
                    </a:solidFill>
                    <a:latin typeface="+mn-lt"/>
                  </a:rPr>
                  <a:t>Distinct rides</a:t>
                </a:r>
              </a:p>
            </c:rich>
          </c:tx>
          <c:layout/>
          <c:overlay val="0"/>
        </c:title>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B"/>
                </a:solidFill>
                <a:latin typeface="+mn-lt"/>
              </a:defRPr>
            </a:pPr>
            <a:endParaRPr lang="en-US"/>
          </a:p>
        </c:txPr>
        <c:crossAx val="344297184"/>
        <c:crosses val="autoZero"/>
        <c:crossBetween val="between"/>
      </c:valAx>
      <c:spPr>
        <a:noFill/>
        <a:ln>
          <a:noFill/>
        </a:ln>
        <a:effectLst/>
      </c:spPr>
    </c:plotArea>
    <c:legend>
      <c:legendPos val="b"/>
      <c:layout/>
      <c:overlay val="0"/>
      <c:txPr>
        <a:bodyPr/>
        <a:lstStyle/>
        <a:p>
          <a:pPr>
            <a:defRPr sz="1000">
              <a:solidFill>
                <a:srgbClr val="1B2A3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7783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thanks for having me. This is my Cyclistic bike-share case study. The business question is simple: how do casual riders and annual members use our bikes differently, and what can marketing do with that to convert casual riders into annual members? I cleaned the data in Excel, built the analysis and an interactive dashboard in Tableau Public, and I'll walk through the method, the findings, and three data-backed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objective. Cyclistic wants to grow annual memberships, because members are more valuable than single-ride customers. So the question I answered is how casual riders and members use the bikes differently. I worked with April 2020 trip data: 84,776 distinct ride records. I built three views of the data, start stations, end stations and routes, and combined them into one interactive Tableau dashboard.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look at the method. First, I cleaned and validated the data: checked for missing values and confirmed that ride_id works as a unique primary key. Second, I created helper fields, including time-of-day fields and a custom Route column that joins the start and end station. Third, I used a distinct count of Ride Id in Tableau, so duplicates can't inflate any bar. Fourth, I built three stacked bar charts coloured by rider type. Finally, I combined them into a dashboard with cross-filtering, so clicking a start station filters the matching end stations and routes.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shows the ten busiest start stations, split by rider type. Clark St and Elm St is the top station with 850 rides, followed by Dearborn and Erie and Desplaines and Kinzie. Members dominate every one of these stations, about 73 percent of the volume overall. The useful signal is where casual riders are most concentrated: Clark and Elm with 246 casual rides, Wabash and Grand with 206, and Desplaines and Kinzie with 204. Wabash and Grand has the highest casual share at 34 percent. St. Clair and Erie is the opposite, with 86 percent members, which looks like a regular, routine-use station. These casual-heavy stations are where we can reach potential members.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end-station view looks very similar to the start-station view, which tells us riders mostly stay within the same busy areas. Clark and Elm is again number one, now with 893 rides. Members account for roughly 76 percent of rides at these end stations, so the casual share is even a little lower than at the starts. Casual riders are still most visible at Clark and Elm, Dearborn and Erie, and Wabash and Grand. Because the start and end lists overlap so much, the same locations can be used both to attract riders and to make an offer at the end of a trip.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story changes. On routes, the casual share rises to about 45 percent, compared with roughly 27 percent at stations. Casual riders are the majority on three routes: Wells St and Elm St, Stockton Dr and Wrightwood Ave, and Indiana Ave and Roosevelt Rd. Also notice that all ten top routes start and end at the same station. Round trips like this suggest riding for fun or exercise rather than commuting from A to B. I'd treat that as a strong hint, not proof, and I'd confirm it with ride duration and location data in a next phase.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Pulling it together. Casual riders are about 27 percent of rides at the top start stations and 24 percent at the top end stations, but 45 percent on the top routes. So members dominate station volume, while casual riders have a much stronger presence on specific routes, and those routes are all round trips. Casual activity is also concentrated in a handful of places. That concentration is good news for marketing, because it means we can target a few locations instead of spreading effort across the whole network. One caution: this is one month, April 2020, so I treat these as patterns to act on and keep testing.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on the analysis, I have three recommendations. One, location-based onboarding: put QR-code conversion offers at the top five casual-heavy start stations, starting with Clark and Elm. Two, route-based incentives: offer a casual-to-member upgrade discount to riders who finish trips on the top casual routes, like Wells and Elm. Three, strategic timing: align push notifications with the windows when casual activity peaks, using the time-of-day fields I created. For next steps, I'd validate those timing windows and rerun this on a full year of data, because April 2020 is a single month and an unusual one. Thank you, and I'm happy to take questions or demo the dashboard.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9" name="Picture 8"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1"/>
          <p:cNvSpPr>
            <a:spLocks noGrp="1"/>
          </p:cNvSpPr>
          <p:nvPr>
            <p:ph type="ctrTitle"/>
          </p:nvPr>
        </p:nvSpPr>
        <p:spPr>
          <a:xfrm>
            <a:off x="2019299" y="1403349"/>
            <a:ext cx="5111752" cy="1136650"/>
          </a:xfrm>
        </p:spPr>
        <p:txBody>
          <a:bodyPr anchor="b">
            <a:noAutofit/>
          </a:bodyPr>
          <a:lstStyle>
            <a:lvl1pPr algn="ctr">
              <a:defRPr sz="405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019299" y="2743198"/>
            <a:ext cx="5111752" cy="990602"/>
          </a:xfrm>
        </p:spPr>
        <p:txBody>
          <a:bodyPr anchor="t">
            <a:normAutofit/>
          </a:bodyPr>
          <a:lstStyle>
            <a:lvl1pPr marL="0" indent="0" algn="ctr">
              <a:buNone/>
              <a:defRPr sz="1575">
                <a:solidFill>
                  <a:schemeClr val="tx1"/>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5987425" y="3778247"/>
            <a:ext cx="673100" cy="209550"/>
          </a:xfrm>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a:xfrm>
            <a:off x="2019298" y="3778247"/>
            <a:ext cx="3910976" cy="209550"/>
          </a:xfrm>
        </p:spPr>
        <p:txBody>
          <a:bodyPr/>
          <a:lstStyle/>
          <a:p>
            <a:endParaRPr lang="en-US" dirty="0"/>
          </a:p>
        </p:txBody>
      </p:sp>
      <p:sp>
        <p:nvSpPr>
          <p:cNvPr id="6" name="Slide Number Placeholder 5"/>
          <p:cNvSpPr>
            <a:spLocks noGrp="1"/>
          </p:cNvSpPr>
          <p:nvPr>
            <p:ph type="sldNum" sz="quarter" idx="12"/>
          </p:nvPr>
        </p:nvSpPr>
        <p:spPr>
          <a:xfrm>
            <a:off x="6717676" y="3778247"/>
            <a:ext cx="413375" cy="209550"/>
          </a:xfrm>
        </p:spPr>
        <p:txBody>
          <a:bodyPr/>
          <a:lstStyle/>
          <a:p>
            <a:pPr algn="l"/>
            <a:fld id="{F7021451-1387-4CA6-816F-3879F97B5CBC}" type="slidenum">
              <a:rPr lang="en-US" b="0" smtClean="0"/>
              <a:t>‹#›</a:t>
            </a:fld>
            <a:endParaRPr lang="en-US"/>
          </a:p>
        </p:txBody>
      </p:sp>
      <p:cxnSp>
        <p:nvCxnSpPr>
          <p:cNvPr id="15" name="Straight Connector 14"/>
          <p:cNvCxnSpPr/>
          <p:nvPr/>
        </p:nvCxnSpPr>
        <p:spPr>
          <a:xfrm>
            <a:off x="2019299" y="2641598"/>
            <a:ext cx="5111751"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19012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047127" y="1816100"/>
            <a:ext cx="7055474" cy="0"/>
          </a:xfrm>
          <a:prstGeom prst="line">
            <a:avLst/>
          </a:prstGeom>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100981268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11302" y="1314454"/>
            <a:ext cx="6119016" cy="1366886"/>
          </a:xfrm>
        </p:spPr>
        <p:txBody>
          <a:bodyPr anchor="b">
            <a:normAutofit/>
          </a:bodyPr>
          <a:lstStyle>
            <a:lvl1pPr algn="ctr">
              <a:defRPr sz="33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11300" y="2884539"/>
            <a:ext cx="6119018" cy="715910"/>
          </a:xfrm>
        </p:spPr>
        <p:txBody>
          <a:bodyPr anchor="t">
            <a:normAutofit/>
          </a:bodyPr>
          <a:lstStyle>
            <a:lvl1pPr marL="0" indent="0" algn="ctr">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l"/>
            <a:fld id="{F7021451-1387-4CA6-816F-3879F97B5CBC}" type="slidenum">
              <a:rPr lang="en-US" b="0" smtClean="0"/>
              <a:t>‹#›</a:t>
            </a:fld>
            <a:endParaRPr lang="en-US"/>
          </a:p>
        </p:txBody>
      </p:sp>
      <p:cxnSp>
        <p:nvCxnSpPr>
          <p:cNvPr id="16" name="Straight Connector 15"/>
          <p:cNvCxnSpPr/>
          <p:nvPr/>
        </p:nvCxnSpPr>
        <p:spPr>
          <a:xfrm>
            <a:off x="1509542" y="2782939"/>
            <a:ext cx="612253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5532324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73836" y="1920240"/>
            <a:ext cx="3538728" cy="2482596"/>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36008" y="1920240"/>
            <a:ext cx="3538728" cy="2482596"/>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326087223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1550" y="1993900"/>
            <a:ext cx="3538728" cy="432197"/>
          </a:xfrm>
        </p:spPr>
        <p:txBody>
          <a:bodyPr anchor="b">
            <a:noAutofit/>
          </a:bodyPr>
          <a:lstStyle>
            <a:lvl1pPr marL="0" indent="0">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971550" y="2432447"/>
            <a:ext cx="3538728" cy="1974454"/>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35503" y="1993900"/>
            <a:ext cx="3538728" cy="432197"/>
          </a:xfrm>
        </p:spPr>
        <p:txBody>
          <a:bodyPr anchor="b">
            <a:noAutofit/>
          </a:bodyPr>
          <a:lstStyle>
            <a:lvl1pPr marL="0" indent="0">
              <a:buNone/>
              <a:defRPr sz="2100" b="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35503" y="2432447"/>
            <a:ext cx="3538728" cy="1974454"/>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algn="l"/>
            <a:fld id="{F7021451-1387-4CA6-816F-3879F97B5CBC}" type="slidenum">
              <a:rPr lang="en-US" b="0" smtClean="0"/>
              <a:t>‹#›</a:t>
            </a:fld>
            <a:endParaRPr lang="en-US"/>
          </a:p>
        </p:txBody>
      </p:sp>
      <p:cxnSp>
        <p:nvCxnSpPr>
          <p:cNvPr id="18" name="Straight Connector 17"/>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181942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lgn="l"/>
            <a:fld id="{F7021451-1387-4CA6-816F-3879F97B5CBC}" type="slidenum">
              <a:rPr lang="en-US" b="0" smtClean="0"/>
              <a:t>‹#›</a:t>
            </a:fld>
            <a:endParaRPr lang="en-US"/>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5246533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46205241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0359" y="1041401"/>
            <a:ext cx="2788841" cy="1028700"/>
          </a:xfrm>
        </p:spPr>
        <p:txBody>
          <a:bodyPr anchor="b">
            <a:normAutofit/>
          </a:bodyPr>
          <a:lstStyle>
            <a:lvl1pPr algn="ctr">
              <a:defRPr sz="1800" b="0"/>
            </a:lvl1pPr>
          </a:lstStyle>
          <a:p>
            <a:r>
              <a:rPr lang="en-US" smtClean="0"/>
              <a:t>Click to edit Master title style</a:t>
            </a:r>
            <a:endParaRPr lang="en-US" dirty="0"/>
          </a:p>
        </p:txBody>
      </p:sp>
      <p:sp>
        <p:nvSpPr>
          <p:cNvPr id="3" name="Content Placeholder 2"/>
          <p:cNvSpPr>
            <a:spLocks noGrp="1"/>
          </p:cNvSpPr>
          <p:nvPr>
            <p:ph idx="1"/>
          </p:nvPr>
        </p:nvSpPr>
        <p:spPr>
          <a:xfrm>
            <a:off x="4064001" y="736599"/>
            <a:ext cx="4102100" cy="3670301"/>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70359" y="2273299"/>
            <a:ext cx="2788841" cy="1828803"/>
          </a:xfrm>
        </p:spPr>
        <p:txBody>
          <a:bodyPr anchor="t">
            <a:normAutofit/>
          </a:bodyPr>
          <a:lstStyle>
            <a:lvl1pPr marL="0" indent="0" algn="ctr">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l"/>
            <a:fld id="{F7021451-1387-4CA6-816F-3879F97B5CBC}" type="slidenum">
              <a:rPr lang="en-US" b="0" smtClean="0"/>
              <a:t>‹#›</a:t>
            </a:fld>
            <a:endParaRPr lang="en-US"/>
          </a:p>
        </p:txBody>
      </p:sp>
      <p:cxnSp>
        <p:nvCxnSpPr>
          <p:cNvPr id="16" name="Straight Connector 15"/>
          <p:cNvCxnSpPr/>
          <p:nvPr/>
        </p:nvCxnSpPr>
        <p:spPr>
          <a:xfrm>
            <a:off x="1047127" y="2184400"/>
            <a:ext cx="26358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85596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49" y="1412874"/>
            <a:ext cx="4681362" cy="1028700"/>
          </a:xfrm>
        </p:spPr>
        <p:txBody>
          <a:bodyPr anchor="b">
            <a:normAutofit/>
          </a:bodyPr>
          <a:lstStyle>
            <a:lvl1pPr algn="ctr">
              <a:defRPr sz="21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6071124" y="781050"/>
            <a:ext cx="2297510" cy="35814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971549" y="2441574"/>
            <a:ext cx="4681362" cy="1371600"/>
          </a:xfrm>
        </p:spPr>
        <p:txBody>
          <a:bodyPr anchor="t">
            <a:normAutofit/>
          </a:bodyPr>
          <a:lstStyle>
            <a:lvl1pPr marL="0" indent="0" algn="ctr">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240508117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71551" y="3611561"/>
            <a:ext cx="7207250" cy="425054"/>
          </a:xfrm>
        </p:spPr>
        <p:txBody>
          <a:bodyPr anchor="b">
            <a:normAutofit/>
          </a:bodyPr>
          <a:lstStyle>
            <a:lvl1pPr algn="ctr">
              <a:defRPr sz="18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81070" y="781050"/>
            <a:ext cx="7579479" cy="2501902"/>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smtClean="0"/>
              <a:t>Click icon to add picture</a:t>
            </a:r>
            <a:endParaRPr lang="en-US" dirty="0"/>
          </a:p>
        </p:txBody>
      </p:sp>
      <p:sp>
        <p:nvSpPr>
          <p:cNvPr id="4" name="Text Placeholder 3"/>
          <p:cNvSpPr>
            <a:spLocks noGrp="1"/>
          </p:cNvSpPr>
          <p:nvPr>
            <p:ph type="body" sz="half" idx="2"/>
          </p:nvPr>
        </p:nvSpPr>
        <p:spPr>
          <a:xfrm>
            <a:off x="971551" y="4036615"/>
            <a:ext cx="7207250" cy="370284"/>
          </a:xfrm>
        </p:spPr>
        <p:txBody>
          <a:bodyPr>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71982768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77901" y="736599"/>
            <a:ext cx="7194549" cy="2216151"/>
          </a:xfrm>
        </p:spPr>
        <p:txBody>
          <a:bodyPr anchor="ctr">
            <a:normAutofit/>
          </a:bodyPr>
          <a:lstStyle>
            <a:lvl1pPr algn="ctr">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977901" y="3257550"/>
            <a:ext cx="7194549"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l"/>
            <a:fld id="{F7021451-1387-4CA6-816F-3879F97B5CBC}" type="slidenum">
              <a:rPr lang="en-US" b="0" smtClean="0"/>
              <a:t>‹#›</a:t>
            </a:fld>
            <a:endParaRPr lang="en-US"/>
          </a:p>
        </p:txBody>
      </p:sp>
      <p:cxnSp>
        <p:nvCxnSpPr>
          <p:cNvPr id="15" name="Straight Connector 14"/>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090080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778001"/>
          </a:xfrm>
        </p:spPr>
        <p:txBody>
          <a:bodyPr anchor="ctr">
            <a:normAutofit/>
          </a:bodyPr>
          <a:lstStyle>
            <a:lvl1pPr algn="ctr">
              <a:defRPr sz="24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256109" y="2514600"/>
            <a:ext cx="6629402" cy="438150"/>
          </a:xfrm>
        </p:spPr>
        <p:txBody>
          <a:bodyPr anchor="ctr">
            <a:normAutofit/>
          </a:bodyPr>
          <a:lstStyle>
            <a:lvl1pPr marL="0" indent="0" algn="r">
              <a:buFontTx/>
              <a:buNone/>
              <a:defRPr sz="15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971551" y="3257550"/>
            <a:ext cx="7207250" cy="1149350"/>
          </a:xfrm>
        </p:spPr>
        <p:txBody>
          <a:bodyPr anchor="ctr">
            <a:normAutofit/>
          </a:bodyPr>
          <a:lstStyle>
            <a:lvl1pPr marL="0" indent="0" algn="ctr">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l"/>
            <a:fld id="{F7021451-1387-4CA6-816F-3879F97B5CBC}" type="slidenum">
              <a:rPr lang="en-US" b="0" smtClean="0"/>
              <a:t>‹#›</a:t>
            </a:fld>
            <a:endParaRPr lang="en-US"/>
          </a:p>
        </p:txBody>
      </p:sp>
      <p:sp>
        <p:nvSpPr>
          <p:cNvPr id="14" name="TextBox 13"/>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950200" y="2120903"/>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19" name="Straight Connector 18"/>
          <p:cNvCxnSpPr/>
          <p:nvPr/>
        </p:nvCxnSpPr>
        <p:spPr>
          <a:xfrm>
            <a:off x="1047127" y="3105149"/>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1600827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71552" y="2481436"/>
            <a:ext cx="7207251" cy="1101600"/>
          </a:xfrm>
        </p:spPr>
        <p:txBody>
          <a:bodyPr anchor="b">
            <a:normAutofit/>
          </a:bodyPr>
          <a:lstStyle>
            <a:lvl1pPr algn="l">
              <a:defRPr sz="2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971551" y="3583036"/>
            <a:ext cx="7207251" cy="645300"/>
          </a:xfrm>
        </p:spPr>
        <p:txBody>
          <a:bodyPr anchor="t">
            <a:normAutofit/>
          </a:bodyPr>
          <a:lstStyle>
            <a:lvl1pPr marL="0" indent="0" algn="l">
              <a:buNone/>
              <a:defRPr sz="15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98897911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084660" y="736599"/>
            <a:ext cx="6972299" cy="1682751"/>
          </a:xfrm>
        </p:spPr>
        <p:txBody>
          <a:bodyPr anchor="ctr">
            <a:normAutofit/>
          </a:bodyPr>
          <a:lstStyle>
            <a:lvl1pPr algn="ctr">
              <a:defRPr sz="2400" b="0" cap="none">
                <a:solidFill>
                  <a:schemeClr val="tx1"/>
                </a:solidFill>
              </a:defRPr>
            </a:lvl1pPr>
          </a:lstStyle>
          <a:p>
            <a:r>
              <a:rPr lang="en-US" smtClean="0"/>
              <a:t>Click to edit Master title style</a:t>
            </a:r>
            <a:endParaRPr lang="en-US" dirty="0"/>
          </a:p>
        </p:txBody>
      </p:sp>
      <p:sp>
        <p:nvSpPr>
          <p:cNvPr id="14" name="Text Placeholder 2"/>
          <p:cNvSpPr>
            <a:spLocks noGrp="1"/>
          </p:cNvSpPr>
          <p:nvPr>
            <p:ph type="body" idx="13"/>
          </p:nvPr>
        </p:nvSpPr>
        <p:spPr>
          <a:xfrm>
            <a:off x="971551" y="2729484"/>
            <a:ext cx="7207251" cy="665226"/>
          </a:xfrm>
        </p:spPr>
        <p:txBody>
          <a:bodyPr anchor="b">
            <a:normAutofit/>
          </a:bodyPr>
          <a:lstStyle>
            <a:lvl1pPr marL="0" indent="0" algn="l">
              <a:spcBef>
                <a:spcPts val="0"/>
              </a:spcBef>
              <a:buNone/>
              <a:defRPr sz="18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971551" y="3397250"/>
            <a:ext cx="7207251" cy="100965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l"/>
            <a:fld id="{F7021451-1387-4CA6-816F-3879F97B5CBC}" type="slidenum">
              <a:rPr lang="en-US" b="0" smtClean="0"/>
              <a:t>‹#›</a:t>
            </a:fld>
            <a:endParaRPr lang="en-US"/>
          </a:p>
        </p:txBody>
      </p:sp>
      <p:sp>
        <p:nvSpPr>
          <p:cNvPr id="12" name="TextBox 11"/>
          <p:cNvSpPr txBox="1"/>
          <p:nvPr/>
        </p:nvSpPr>
        <p:spPr>
          <a:xfrm>
            <a:off x="646510" y="659971"/>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3" name="TextBox 12"/>
          <p:cNvSpPr txBox="1"/>
          <p:nvPr/>
        </p:nvSpPr>
        <p:spPr>
          <a:xfrm>
            <a:off x="7950200" y="1949446"/>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cxnSp>
        <p:nvCxnSpPr>
          <p:cNvPr id="26" name="Straight Connector 25"/>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399782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971551" y="736599"/>
            <a:ext cx="7207250" cy="1682751"/>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1" name="Text Placeholder 2"/>
          <p:cNvSpPr>
            <a:spLocks noGrp="1"/>
          </p:cNvSpPr>
          <p:nvPr>
            <p:ph type="body" idx="13"/>
          </p:nvPr>
        </p:nvSpPr>
        <p:spPr>
          <a:xfrm>
            <a:off x="971551" y="2722626"/>
            <a:ext cx="7207251" cy="630936"/>
          </a:xfrm>
        </p:spPr>
        <p:txBody>
          <a:bodyPr anchor="b">
            <a:normAutofit/>
          </a:bodyPr>
          <a:lstStyle>
            <a:lvl1pPr marL="0" indent="0" algn="l">
              <a:spcBef>
                <a:spcPts val="0"/>
              </a:spcBef>
              <a:buNone/>
              <a:defRPr sz="210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971550" y="3352800"/>
            <a:ext cx="7207253" cy="1054100"/>
          </a:xfrm>
        </p:spPr>
        <p:txBody>
          <a:bodyPr anchor="t">
            <a:normAutofit/>
          </a:bodyPr>
          <a:lstStyle>
            <a:lvl1pPr marL="0" indent="0" algn="l">
              <a:buNone/>
              <a:defRPr sz="1350">
                <a:solidFill>
                  <a:schemeClr val="tx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l"/>
            <a:fld id="{F7021451-1387-4CA6-816F-3879F97B5CBC}" type="slidenum">
              <a:rPr lang="en-US" b="0" smtClean="0"/>
              <a:t>‹#›</a:t>
            </a:fld>
            <a:endParaRPr lang="en-US"/>
          </a:p>
        </p:txBody>
      </p:sp>
      <p:cxnSp>
        <p:nvCxnSpPr>
          <p:cNvPr id="15" name="Straight Connector 14"/>
          <p:cNvCxnSpPr/>
          <p:nvPr/>
        </p:nvCxnSpPr>
        <p:spPr>
          <a:xfrm>
            <a:off x="1047127" y="257175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34522414"/>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l"/>
            <a:fld id="{F7021451-1387-4CA6-816F-3879F97B5CBC}" type="slidenum">
              <a:rPr lang="en-US" b="0" smtClean="0"/>
              <a:t>‹#›</a:t>
            </a:fld>
            <a:endParaRPr lang="en-US"/>
          </a:p>
        </p:txBody>
      </p:sp>
      <p:cxnSp>
        <p:nvCxnSpPr>
          <p:cNvPr id="14" name="Straight Connector 13"/>
          <p:cNvCxnSpPr/>
          <p:nvPr/>
        </p:nvCxnSpPr>
        <p:spPr>
          <a:xfrm>
            <a:off x="1047127" y="1816100"/>
            <a:ext cx="705547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618508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9518" y="736599"/>
            <a:ext cx="1418171" cy="36703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71549" y="736599"/>
            <a:ext cx="5574769" cy="3670301"/>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lgn="l"/>
            <a:fld id="{F7021451-1387-4CA6-816F-3879F97B5CBC}" type="slidenum">
              <a:rPr lang="en-US" b="0" smtClean="0"/>
              <a:t>‹#›</a:t>
            </a:fld>
            <a:endParaRPr lang="en-US"/>
          </a:p>
        </p:txBody>
      </p:sp>
      <p:cxnSp>
        <p:nvCxnSpPr>
          <p:cNvPr id="14" name="Straight Connector 13"/>
          <p:cNvCxnSpPr/>
          <p:nvPr/>
        </p:nvCxnSpPr>
        <p:spPr>
          <a:xfrm>
            <a:off x="6647918" y="742950"/>
            <a:ext cx="0" cy="36576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4547006"/>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AR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63052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CONTENT">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935319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0" y="0"/>
            <a:ext cx="9141619" cy="5142161"/>
          </a:xfrm>
          <a:prstGeom prst="rect">
            <a:avLst/>
          </a:prstGeom>
        </p:spPr>
      </p:pic>
      <p:sp>
        <p:nvSpPr>
          <p:cNvPr id="2" name="Title Placeholder 1"/>
          <p:cNvSpPr>
            <a:spLocks noGrp="1"/>
          </p:cNvSpPr>
          <p:nvPr>
            <p:ph type="title"/>
          </p:nvPr>
        </p:nvSpPr>
        <p:spPr>
          <a:xfrm>
            <a:off x="971552" y="736600"/>
            <a:ext cx="7200897" cy="977900"/>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71551" y="1917699"/>
            <a:ext cx="7200897" cy="2489202"/>
          </a:xfrm>
          <a:prstGeom prst="rect">
            <a:avLst/>
          </a:prstGeom>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508126" y="4476750"/>
            <a:ext cx="1200150"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fld id="{B61BEF0D-F0BB-DE4B-95CE-6DB70DBA9567}" type="datetimeFigureOut">
              <a:rPr lang="en-US" smtClean="0"/>
              <a:pPr/>
              <a:t>10/3/2026</a:t>
            </a:fld>
            <a:endParaRPr lang="en-US" dirty="0"/>
          </a:p>
        </p:txBody>
      </p:sp>
      <p:sp>
        <p:nvSpPr>
          <p:cNvPr id="5" name="Footer Placeholder 4"/>
          <p:cNvSpPr>
            <a:spLocks noGrp="1"/>
          </p:cNvSpPr>
          <p:nvPr>
            <p:ph type="ftr" sz="quarter" idx="3"/>
          </p:nvPr>
        </p:nvSpPr>
        <p:spPr>
          <a:xfrm>
            <a:off x="971551" y="4476750"/>
            <a:ext cx="5479425" cy="209550"/>
          </a:xfrm>
          <a:prstGeom prst="rect">
            <a:avLst/>
          </a:prstGeom>
        </p:spPr>
        <p:txBody>
          <a:bodyPr vert="horz" lIns="91440" tIns="45720" rIns="91440" bIns="45720" rtlCol="0" anchor="ctr"/>
          <a:lstStyle>
            <a:lvl1pPr algn="l">
              <a:defRPr sz="75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7765426" y="4476750"/>
            <a:ext cx="407023" cy="209550"/>
          </a:xfrm>
          <a:prstGeom prst="rect">
            <a:avLst/>
          </a:prstGeom>
        </p:spPr>
        <p:txBody>
          <a:bodyPr vert="horz" lIns="91440" tIns="45720" rIns="91440" bIns="45720" rtlCol="0" anchor="ctr"/>
          <a:lstStyle>
            <a:lvl1pPr algn="r">
              <a:defRPr sz="750" b="0" i="0">
                <a:solidFill>
                  <a:schemeClr val="tx1"/>
                </a:solidFill>
                <a:effectLst/>
                <a:latin typeface="+mn-lt"/>
              </a:defRPr>
            </a:lvl1p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1222238532"/>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Lst>
  <p:hf sldNum="0" hdr="0" ftr="0" dt="0"/>
  <p:txStyles>
    <p:titleStyle>
      <a:lvl1pPr algn="ctr" defTabSz="342900" rtl="0" eaLnBrk="1" latinLnBrk="0" hangingPunct="1">
        <a:spcBef>
          <a:spcPct val="0"/>
        </a:spcBef>
        <a:buNone/>
        <a:defRPr sz="33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accent1"/>
        </a:buClr>
        <a:buSzPct val="115000"/>
        <a:buFont typeface="Arial"/>
        <a:buChar char="•"/>
        <a:defRPr sz="1500" kern="1200" cap="none">
          <a:solidFill>
            <a:schemeClr val="tx1">
              <a:lumMod val="85000"/>
              <a:lumOff val="1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accent1"/>
        </a:buClr>
        <a:buSzPct val="115000"/>
        <a:buFont typeface="Arial"/>
        <a:buChar char="•"/>
        <a:defRPr sz="1350" kern="1200" cap="none">
          <a:solidFill>
            <a:schemeClr val="tx1">
              <a:lumMod val="85000"/>
              <a:lumOff val="1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accent1"/>
        </a:buClr>
        <a:buSzPct val="115000"/>
        <a:buFont typeface="Arial"/>
        <a:buChar char="•"/>
        <a:defRPr sz="1200" kern="1200" cap="none">
          <a:solidFill>
            <a:schemeClr val="tx1">
              <a:lumMod val="85000"/>
              <a:lumOff val="1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accent1"/>
        </a:buClr>
        <a:buSzPct val="115000"/>
        <a:buFont typeface="Arial"/>
        <a:buChar char="•"/>
        <a:defRPr sz="1050" kern="1200" cap="none">
          <a:solidFill>
            <a:schemeClr val="tx1">
              <a:lumMod val="85000"/>
              <a:lumOff val="1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9.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6335268" y="1667256"/>
            <a:ext cx="1944624" cy="1847088"/>
          </a:xfrm>
          <a:prstGeom prst="ellipse">
            <a:avLst/>
          </a:prstGeom>
          <a:solidFill>
            <a:schemeClr val="bg1"/>
          </a:solidFill>
          <a:ln w="12700">
            <a:solidFill>
              <a:schemeClr val="tx1"/>
            </a:solidFill>
            <a:prstDash val="solid"/>
          </a:ln>
        </p:spPr>
      </p:sp>
      <p:pic>
        <p:nvPicPr>
          <p:cNvPr id="3" name="Image 0" descr="preencoded.png"/>
          <p:cNvPicPr>
            <a:picLocks noChangeAspect="1"/>
          </p:cNvPicPr>
          <p:nvPr/>
        </p:nvPicPr>
        <p:blipFill>
          <a:blip r:embed="rId3"/>
          <a:stretch>
            <a:fillRect/>
          </a:stretch>
        </p:blipFill>
        <p:spPr>
          <a:xfrm>
            <a:off x="6774180" y="2057400"/>
            <a:ext cx="1066800" cy="1066800"/>
          </a:xfrm>
          <a:prstGeom prst="rect">
            <a:avLst/>
          </a:prstGeom>
        </p:spPr>
      </p:pic>
      <p:sp>
        <p:nvSpPr>
          <p:cNvPr id="4" name="Text 1"/>
          <p:cNvSpPr txBox="1"/>
          <p:nvPr/>
        </p:nvSpPr>
        <p:spPr>
          <a:xfrm>
            <a:off x="957072" y="1103376"/>
            <a:ext cx="5297424" cy="731520"/>
          </a:xfrm>
          <a:prstGeom prst="rect">
            <a:avLst/>
          </a:prstGeom>
          <a:noFill/>
          <a:ln/>
        </p:spPr>
        <p:txBody>
          <a:bodyPr wrap="square" lIns="0" tIns="0" rIns="0" bIns="0" rtlCol="0" anchor="ctr"/>
          <a:lstStyle/>
          <a:p>
            <a:r>
              <a:rPr lang="en-US" sz="3400" b="1" dirty="0" smtClean="0">
                <a:solidFill>
                  <a:schemeClr val="bg1"/>
                </a:solidFill>
                <a:latin typeface="+mj-lt"/>
              </a:rPr>
              <a:t>Converting </a:t>
            </a:r>
            <a:r>
              <a:rPr lang="en-US" sz="3400" b="1" dirty="0">
                <a:solidFill>
                  <a:schemeClr val="bg1"/>
                </a:solidFill>
                <a:latin typeface="+mj-lt"/>
              </a:rPr>
              <a:t>Casual Riders into Annual </a:t>
            </a:r>
            <a:r>
              <a:rPr lang="en-US" sz="3400" b="1" dirty="0" smtClean="0">
                <a:solidFill>
                  <a:schemeClr val="bg1"/>
                </a:solidFill>
                <a:latin typeface="+mj-lt"/>
              </a:rPr>
              <a:t>Subscribers</a:t>
            </a:r>
            <a:endParaRPr lang="en-US" sz="3400" b="1" dirty="0">
              <a:solidFill>
                <a:schemeClr val="bg1"/>
              </a:solidFill>
              <a:latin typeface="+mj-lt"/>
            </a:endParaRPr>
          </a:p>
        </p:txBody>
      </p:sp>
      <p:sp>
        <p:nvSpPr>
          <p:cNvPr id="5" name="Text 2"/>
          <p:cNvSpPr txBox="1"/>
          <p:nvPr/>
        </p:nvSpPr>
        <p:spPr>
          <a:xfrm>
            <a:off x="957072" y="2090928"/>
            <a:ext cx="4712208" cy="451104"/>
          </a:xfrm>
          <a:prstGeom prst="rect">
            <a:avLst/>
          </a:prstGeom>
          <a:noFill/>
          <a:ln/>
        </p:spPr>
        <p:txBody>
          <a:bodyPr wrap="square" lIns="0" tIns="0" rIns="0" bIns="0" rtlCol="0" anchor="ctr"/>
          <a:lstStyle/>
          <a:p>
            <a:pPr marL="0" indent="0">
              <a:buNone/>
            </a:pPr>
            <a:r>
              <a:rPr lang="en-US" dirty="0">
                <a:solidFill>
                  <a:schemeClr val="bg1"/>
                </a:solidFill>
              </a:rPr>
              <a:t>Casual Riders vs. Annual </a:t>
            </a:r>
            <a:r>
              <a:rPr lang="en-US" dirty="0" smtClean="0">
                <a:solidFill>
                  <a:schemeClr val="bg1"/>
                </a:solidFill>
              </a:rPr>
              <a:t>Members Analysis</a:t>
            </a:r>
            <a:endParaRPr lang="en-US" dirty="0">
              <a:solidFill>
                <a:schemeClr val="bg1"/>
              </a:solidFill>
            </a:endParaRPr>
          </a:p>
        </p:txBody>
      </p:sp>
      <p:sp>
        <p:nvSpPr>
          <p:cNvPr id="6" name="Text 3"/>
          <p:cNvSpPr txBox="1"/>
          <p:nvPr/>
        </p:nvSpPr>
        <p:spPr>
          <a:xfrm>
            <a:off x="957072" y="3438144"/>
            <a:ext cx="4971288" cy="365760"/>
          </a:xfrm>
          <a:prstGeom prst="rect">
            <a:avLst/>
          </a:prstGeom>
          <a:noFill/>
          <a:ln/>
        </p:spPr>
        <p:txBody>
          <a:bodyPr wrap="square" lIns="0" tIns="0" rIns="0" bIns="0" rtlCol="0" anchor="ctr"/>
          <a:lstStyle/>
          <a:p>
            <a:pPr marL="0" indent="0">
              <a:buNone/>
            </a:pPr>
            <a:r>
              <a:rPr lang="en-US" sz="1400" b="1" dirty="0">
                <a:solidFill>
                  <a:schemeClr val="bg1"/>
                </a:solidFill>
              </a:rPr>
              <a:t>Data Analytics Portfolio Case Study  |  Excel + Tableau </a:t>
            </a:r>
            <a:r>
              <a:rPr lang="en-US" sz="1400" b="1" dirty="0" smtClean="0">
                <a:solidFill>
                  <a:schemeClr val="bg1"/>
                </a:solidFill>
              </a:rPr>
              <a:t>Public</a:t>
            </a:r>
          </a:p>
          <a:p>
            <a:pPr marL="0" indent="0">
              <a:buNone/>
            </a:pPr>
            <a:r>
              <a:rPr lang="en-US" sz="1400" dirty="0" smtClean="0">
                <a:solidFill>
                  <a:schemeClr val="bg1"/>
                </a:solidFill>
              </a:rPr>
              <a:t>By Sanjana 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buNone/>
            </a:pPr>
            <a:endParaRPr lang="en-US" dirty="0"/>
          </a:p>
        </p:txBody>
      </p:sp>
      <p:sp>
        <p:nvSpPr>
          <p:cNvPr id="3" name="Shape 1"/>
          <p:cNvSpPr/>
          <p:nvPr/>
        </p:nvSpPr>
        <p:spPr>
          <a:xfrm>
            <a:off x="640080" y="1188720"/>
            <a:ext cx="4297680" cy="3108960"/>
          </a:xfrm>
          <a:prstGeom prst="rect">
            <a:avLst/>
          </a:prstGeom>
          <a:noFill/>
          <a:ln w="12700">
            <a:noFill/>
            <a:prstDash val="solid"/>
          </a:ln>
          <a:effectLst>
            <a:outerShdw blurRad="101600" dist="25400" dir="5400000" algn="bl" rotWithShape="0">
              <a:srgbClr val="000000">
                <a:alpha val="12000"/>
              </a:srgbClr>
            </a:outerShdw>
          </a:effectLst>
        </p:spPr>
      </p:sp>
      <p:sp>
        <p:nvSpPr>
          <p:cNvPr id="4" name="Text 2"/>
          <p:cNvSpPr txBox="1"/>
          <p:nvPr/>
        </p:nvSpPr>
        <p:spPr>
          <a:xfrm>
            <a:off x="731520" y="1371600"/>
            <a:ext cx="4206240" cy="274320"/>
          </a:xfrm>
          <a:prstGeom prst="rect">
            <a:avLst/>
          </a:prstGeom>
          <a:noFill/>
          <a:ln/>
        </p:spPr>
        <p:txBody>
          <a:bodyPr wrap="square" lIns="0" tIns="0" rIns="0" bIns="0" rtlCol="0" anchor="ctr"/>
          <a:lstStyle/>
          <a:p>
            <a:pPr marL="0" indent="0">
              <a:buNone/>
            </a:pPr>
            <a:r>
              <a:rPr lang="en-US" sz="1400" b="1" kern="0" spc="200" dirty="0">
                <a:solidFill>
                  <a:schemeClr val="bg1"/>
                </a:solidFill>
              </a:rPr>
              <a:t>THE </a:t>
            </a:r>
            <a:r>
              <a:rPr lang="en-US" sz="1400" b="1" kern="0" spc="200" dirty="0" smtClean="0">
                <a:solidFill>
                  <a:schemeClr val="bg1"/>
                </a:solidFill>
              </a:rPr>
              <a:t>QUESTIONS:</a:t>
            </a:r>
            <a:endParaRPr lang="en-US" sz="1400" dirty="0">
              <a:solidFill>
                <a:schemeClr val="bg1"/>
              </a:solidFill>
            </a:endParaRPr>
          </a:p>
        </p:txBody>
      </p:sp>
      <p:sp>
        <p:nvSpPr>
          <p:cNvPr id="5" name="Text 3"/>
          <p:cNvSpPr txBox="1"/>
          <p:nvPr/>
        </p:nvSpPr>
        <p:spPr>
          <a:xfrm>
            <a:off x="804672" y="1901952"/>
            <a:ext cx="3992880" cy="1664208"/>
          </a:xfrm>
          <a:prstGeom prst="rect">
            <a:avLst/>
          </a:prstGeom>
          <a:noFill/>
          <a:ln/>
        </p:spPr>
        <p:txBody>
          <a:bodyPr wrap="square" lIns="0" tIns="0" rIns="0" bIns="0" rtlCol="0" anchor="t"/>
          <a:lstStyle/>
          <a:p>
            <a:pPr marL="285750" indent="-285750">
              <a:buFont typeface="Arial" panose="020B0604020202020204" pitchFamily="34" charset="0"/>
              <a:buChar char="•"/>
            </a:pPr>
            <a:r>
              <a:rPr lang="en-US" dirty="0">
                <a:solidFill>
                  <a:schemeClr val="bg1"/>
                </a:solidFill>
              </a:rPr>
              <a:t>How do casual riders and annual members use Cyclistic bikes </a:t>
            </a:r>
            <a:r>
              <a:rPr lang="en-US" dirty="0" smtClean="0">
                <a:solidFill>
                  <a:schemeClr val="bg1"/>
                </a:solidFill>
              </a:rPr>
              <a:t>differently</a:t>
            </a:r>
            <a:r>
              <a:rPr lang="en-US" dirty="0" smtClean="0">
                <a:solidFill>
                  <a:schemeClr val="bg1"/>
                </a:solidFill>
              </a:rPr>
              <a:t>?</a:t>
            </a:r>
          </a:p>
          <a:p>
            <a:endParaRPr lang="en-US" dirty="0" smtClean="0"/>
          </a:p>
          <a:p>
            <a:pPr marL="285750" indent="-285750">
              <a:buFont typeface="Arial" panose="020B0604020202020204" pitchFamily="34" charset="0"/>
              <a:buChar char="•"/>
            </a:pPr>
            <a:r>
              <a:rPr lang="en-US" dirty="0" smtClean="0">
                <a:solidFill>
                  <a:schemeClr val="bg1"/>
                </a:solidFill>
              </a:rPr>
              <a:t>H</a:t>
            </a:r>
            <a:r>
              <a:rPr lang="en-US" dirty="0" smtClean="0">
                <a:solidFill>
                  <a:schemeClr val="bg1"/>
                </a:solidFill>
              </a:rPr>
              <a:t>ow </a:t>
            </a:r>
            <a:r>
              <a:rPr lang="en-US" dirty="0">
                <a:solidFill>
                  <a:schemeClr val="bg1"/>
                </a:solidFill>
              </a:rPr>
              <a:t>can we convert casual riders into annual subscribers?</a:t>
            </a:r>
          </a:p>
        </p:txBody>
      </p:sp>
      <p:sp>
        <p:nvSpPr>
          <p:cNvPr id="6" name="Text 4"/>
          <p:cNvSpPr txBox="1"/>
          <p:nvPr/>
        </p:nvSpPr>
        <p:spPr>
          <a:xfrm>
            <a:off x="804672" y="3547872"/>
            <a:ext cx="4206240" cy="548640"/>
          </a:xfrm>
          <a:prstGeom prst="rect">
            <a:avLst/>
          </a:prstGeom>
          <a:noFill/>
          <a:ln/>
        </p:spPr>
        <p:txBody>
          <a:bodyPr wrap="square" lIns="0" tIns="0" rIns="0" bIns="0" rtlCol="0" anchor="ctr"/>
          <a:lstStyle/>
          <a:p>
            <a:pPr marL="0" indent="0">
              <a:buNone/>
            </a:pPr>
            <a:r>
              <a:rPr lang="en-US" sz="1600" u="sng" dirty="0">
                <a:solidFill>
                  <a:schemeClr val="bg1"/>
                </a:solidFill>
              </a:rPr>
              <a:t>Output</a:t>
            </a:r>
            <a:r>
              <a:rPr lang="en-US" sz="1600" dirty="0">
                <a:solidFill>
                  <a:schemeClr val="bg1"/>
                </a:solidFill>
              </a:rPr>
              <a:t>: </a:t>
            </a:r>
            <a:r>
              <a:rPr lang="en-US" sz="1600" dirty="0" smtClean="0">
                <a:solidFill>
                  <a:schemeClr val="bg1"/>
                </a:solidFill>
              </a:rPr>
              <a:t>Station</a:t>
            </a:r>
            <a:r>
              <a:rPr lang="en-US" sz="1600" dirty="0">
                <a:solidFill>
                  <a:schemeClr val="bg1"/>
                </a:solidFill>
              </a:rPr>
              <a:t>, route and rider-type insights that guide marketing.</a:t>
            </a:r>
          </a:p>
        </p:txBody>
      </p:sp>
      <p:sp>
        <p:nvSpPr>
          <p:cNvPr id="7" name="Shape 5"/>
          <p:cNvSpPr/>
          <p:nvPr/>
        </p:nvSpPr>
        <p:spPr>
          <a:xfrm>
            <a:off x="5486400" y="1188720"/>
            <a:ext cx="3017520" cy="1005840"/>
          </a:xfrm>
          <a:prstGeom prst="rect">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8" name="Text 6"/>
          <p:cNvSpPr txBox="1"/>
          <p:nvPr/>
        </p:nvSpPr>
        <p:spPr>
          <a:xfrm>
            <a:off x="5669280" y="1280160"/>
            <a:ext cx="2834640" cy="548640"/>
          </a:xfrm>
          <a:prstGeom prst="rect">
            <a:avLst/>
          </a:prstGeom>
          <a:noFill/>
          <a:ln/>
        </p:spPr>
        <p:txBody>
          <a:bodyPr wrap="square" lIns="0" tIns="0" rIns="0" bIns="0" rtlCol="0" anchor="ctr"/>
          <a:lstStyle/>
          <a:p>
            <a:pPr marL="0" indent="0">
              <a:buNone/>
            </a:pPr>
            <a:r>
              <a:rPr lang="en-US" sz="3200" b="1" dirty="0">
                <a:solidFill>
                  <a:schemeClr val="accent6">
                    <a:lumMod val="40000"/>
                    <a:lumOff val="60000"/>
                  </a:schemeClr>
                </a:solidFill>
                <a:latin typeface="+mj-lt" pitchFamily="34" charset="0"/>
                <a:ea typeface="+mj-lt" pitchFamily="34" charset="-122"/>
                <a:cs typeface="+mj-lt" pitchFamily="34" charset="-120"/>
              </a:rPr>
              <a:t>84,776</a:t>
            </a:r>
            <a:endParaRPr lang="en-US" sz="3200" dirty="0">
              <a:solidFill>
                <a:schemeClr val="accent6">
                  <a:lumMod val="40000"/>
                  <a:lumOff val="60000"/>
                </a:schemeClr>
              </a:solidFill>
            </a:endParaRPr>
          </a:p>
        </p:txBody>
      </p:sp>
      <p:sp>
        <p:nvSpPr>
          <p:cNvPr id="9" name="Text 7"/>
          <p:cNvSpPr txBox="1"/>
          <p:nvPr/>
        </p:nvSpPr>
        <p:spPr>
          <a:xfrm>
            <a:off x="5669280" y="1810512"/>
            <a:ext cx="2834640" cy="274320"/>
          </a:xfrm>
          <a:prstGeom prst="rect">
            <a:avLst/>
          </a:prstGeom>
          <a:noFill/>
          <a:ln/>
        </p:spPr>
        <p:txBody>
          <a:bodyPr wrap="square" lIns="0" tIns="0" rIns="0" bIns="0" rtlCol="0" anchor="ctr"/>
          <a:lstStyle/>
          <a:p>
            <a:pPr marL="0" indent="0">
              <a:buNone/>
            </a:pPr>
            <a:r>
              <a:rPr lang="en-US" sz="1400" dirty="0">
                <a:solidFill>
                  <a:srgbClr val="5B6B7B"/>
                </a:solidFill>
              </a:rPr>
              <a:t>distinct ride records</a:t>
            </a:r>
            <a:endParaRPr lang="en-US" sz="1400" dirty="0"/>
          </a:p>
        </p:txBody>
      </p:sp>
      <p:sp>
        <p:nvSpPr>
          <p:cNvPr id="10" name="Shape 8"/>
          <p:cNvSpPr/>
          <p:nvPr/>
        </p:nvSpPr>
        <p:spPr>
          <a:xfrm>
            <a:off x="5486400" y="2377440"/>
            <a:ext cx="3017520" cy="1005840"/>
          </a:xfrm>
          <a:prstGeom prst="rect">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1" name="Text 9"/>
          <p:cNvSpPr txBox="1"/>
          <p:nvPr/>
        </p:nvSpPr>
        <p:spPr>
          <a:xfrm>
            <a:off x="5669280" y="2468880"/>
            <a:ext cx="2834640" cy="548640"/>
          </a:xfrm>
          <a:prstGeom prst="rect">
            <a:avLst/>
          </a:prstGeom>
          <a:noFill/>
          <a:ln/>
        </p:spPr>
        <p:txBody>
          <a:bodyPr wrap="square" lIns="0" tIns="0" rIns="0" bIns="0" rtlCol="0" anchor="ctr"/>
          <a:lstStyle/>
          <a:p>
            <a:pPr marL="0" indent="0">
              <a:buNone/>
            </a:pPr>
            <a:r>
              <a:rPr lang="en-US" sz="3200" b="1" dirty="0">
                <a:solidFill>
                  <a:srgbClr val="3B6FA6"/>
                </a:solidFill>
                <a:latin typeface="+mj-lt" pitchFamily="34" charset="0"/>
                <a:ea typeface="+mj-lt" pitchFamily="34" charset="-122"/>
                <a:cs typeface="+mj-lt" pitchFamily="34" charset="-120"/>
              </a:rPr>
              <a:t>Apr 2020</a:t>
            </a:r>
            <a:endParaRPr lang="en-US" sz="3200" dirty="0"/>
          </a:p>
        </p:txBody>
      </p:sp>
      <p:sp>
        <p:nvSpPr>
          <p:cNvPr id="12" name="Text 10"/>
          <p:cNvSpPr txBox="1"/>
          <p:nvPr/>
        </p:nvSpPr>
        <p:spPr>
          <a:xfrm>
            <a:off x="5669280" y="2999232"/>
            <a:ext cx="2834640" cy="274320"/>
          </a:xfrm>
          <a:prstGeom prst="rect">
            <a:avLst/>
          </a:prstGeom>
          <a:noFill/>
          <a:ln/>
        </p:spPr>
        <p:txBody>
          <a:bodyPr wrap="square" lIns="0" tIns="0" rIns="0" bIns="0" rtlCol="0" anchor="ctr"/>
          <a:lstStyle/>
          <a:p>
            <a:pPr marL="0" indent="0">
              <a:buNone/>
            </a:pPr>
            <a:r>
              <a:rPr lang="en-US" sz="1400" dirty="0">
                <a:solidFill>
                  <a:srgbClr val="5B6B7B"/>
                </a:solidFill>
              </a:rPr>
              <a:t>single month of trip data</a:t>
            </a:r>
            <a:endParaRPr lang="en-US" sz="1400" dirty="0"/>
          </a:p>
        </p:txBody>
      </p:sp>
      <p:sp>
        <p:nvSpPr>
          <p:cNvPr id="13" name="Shape 11"/>
          <p:cNvSpPr/>
          <p:nvPr/>
        </p:nvSpPr>
        <p:spPr>
          <a:xfrm>
            <a:off x="5486400" y="3566160"/>
            <a:ext cx="3017520" cy="1005840"/>
          </a:xfrm>
          <a:prstGeom prst="rect">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4" name="Text 12"/>
          <p:cNvSpPr txBox="1"/>
          <p:nvPr/>
        </p:nvSpPr>
        <p:spPr>
          <a:xfrm>
            <a:off x="5669280" y="3657600"/>
            <a:ext cx="2834640" cy="548640"/>
          </a:xfrm>
          <a:prstGeom prst="rect">
            <a:avLst/>
          </a:prstGeom>
          <a:noFill/>
          <a:ln/>
        </p:spPr>
        <p:txBody>
          <a:bodyPr wrap="square" lIns="0" tIns="0" rIns="0" bIns="0" rtlCol="0" anchor="ctr"/>
          <a:lstStyle/>
          <a:p>
            <a:pPr marL="0" indent="0">
              <a:buNone/>
            </a:pPr>
            <a:r>
              <a:rPr lang="en-US" sz="3200" b="1" dirty="0">
                <a:solidFill>
                  <a:schemeClr val="accent6">
                    <a:lumMod val="40000"/>
                    <a:lumOff val="60000"/>
                  </a:schemeClr>
                </a:solidFill>
                <a:latin typeface="+mj-lt" pitchFamily="34" charset="0"/>
                <a:ea typeface="+mj-lt" pitchFamily="34" charset="-122"/>
                <a:cs typeface="+mj-lt" pitchFamily="34" charset="-120"/>
              </a:rPr>
              <a:t>3 views</a:t>
            </a:r>
            <a:endParaRPr lang="en-US" sz="3200" dirty="0">
              <a:solidFill>
                <a:schemeClr val="accent6">
                  <a:lumMod val="40000"/>
                  <a:lumOff val="60000"/>
                </a:schemeClr>
              </a:solidFill>
            </a:endParaRPr>
          </a:p>
        </p:txBody>
      </p:sp>
      <p:sp>
        <p:nvSpPr>
          <p:cNvPr id="15" name="Text 13"/>
          <p:cNvSpPr txBox="1"/>
          <p:nvPr/>
        </p:nvSpPr>
        <p:spPr>
          <a:xfrm>
            <a:off x="5669280" y="4187952"/>
            <a:ext cx="2834640" cy="274320"/>
          </a:xfrm>
          <a:prstGeom prst="rect">
            <a:avLst/>
          </a:prstGeom>
          <a:noFill/>
          <a:ln/>
        </p:spPr>
        <p:txBody>
          <a:bodyPr wrap="square" lIns="0" tIns="0" rIns="0" bIns="0" rtlCol="0" anchor="ctr"/>
          <a:lstStyle/>
          <a:p>
            <a:pPr marL="0" indent="0">
              <a:buNone/>
            </a:pPr>
            <a:r>
              <a:rPr lang="en-US" sz="1400" dirty="0">
                <a:solidFill>
                  <a:srgbClr val="5B6B7B"/>
                </a:solidFill>
              </a:rPr>
              <a:t>one interactive dashboard</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l"/>
            <a:fld id="{F7021451-1387-4CA6-816F-3879F97B5CBC}" type="slidenum">
              <a:rPr lang="en-US" b="0"/>
              <a:t>2</a:t>
            </a:fld>
            <a:endParaRPr lang="en-US"/>
          </a:p>
        </p:txBody>
      </p:sp>
      <p:sp>
        <p:nvSpPr>
          <p:cNvPr id="16" name="TextBox 15"/>
          <p:cNvSpPr txBox="1"/>
          <p:nvPr/>
        </p:nvSpPr>
        <p:spPr>
          <a:xfrm>
            <a:off x="2834640" y="530353"/>
            <a:ext cx="3858768" cy="400110"/>
          </a:xfrm>
          <a:prstGeom prst="rect">
            <a:avLst/>
          </a:prstGeom>
          <a:noFill/>
        </p:spPr>
        <p:txBody>
          <a:bodyPr wrap="square" rtlCol="0">
            <a:spAutoFit/>
          </a:bodyPr>
          <a:lstStyle/>
          <a:p>
            <a:r>
              <a:rPr lang="en-US" sz="2000" b="1" u="sng" dirty="0">
                <a:solidFill>
                  <a:schemeClr val="bg1"/>
                </a:solidFill>
              </a:rPr>
              <a:t>Business Question and </a:t>
            </a:r>
            <a:r>
              <a:rPr lang="en-US" sz="2000" b="1" u="sng" dirty="0" smtClean="0">
                <a:solidFill>
                  <a:schemeClr val="bg1"/>
                </a:solidFill>
              </a:rPr>
              <a:t>Dataset</a:t>
            </a:r>
            <a:endParaRPr lang="en-US" sz="2000" b="1" u="sng"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buNone/>
            </a:pPr>
            <a:endParaRPr lang="en-US" dirty="0"/>
          </a:p>
        </p:txBody>
      </p:sp>
      <p:sp>
        <p:nvSpPr>
          <p:cNvPr id="3" name="Shape 1"/>
          <p:cNvSpPr/>
          <p:nvPr/>
        </p:nvSpPr>
        <p:spPr>
          <a:xfrm>
            <a:off x="541020" y="1097280"/>
            <a:ext cx="566928" cy="566928"/>
          </a:xfrm>
          <a:prstGeom prst="ellipse">
            <a:avLst/>
          </a:prstGeom>
          <a:solidFill>
            <a:schemeClr val="accent6">
              <a:lumMod val="40000"/>
              <a:lumOff val="60000"/>
            </a:schemeClr>
          </a:solidFill>
          <a:ln w="12700">
            <a:noFill/>
            <a:prstDash val="solid"/>
          </a:ln>
        </p:spPr>
      </p:sp>
      <p:pic>
        <p:nvPicPr>
          <p:cNvPr id="4" name="Image 0" descr="preencoded.png"/>
          <p:cNvPicPr>
            <a:picLocks noChangeAspect="1"/>
          </p:cNvPicPr>
          <p:nvPr/>
        </p:nvPicPr>
        <p:blipFill>
          <a:blip r:embed="rId3"/>
          <a:stretch>
            <a:fillRect/>
          </a:stretch>
        </p:blipFill>
        <p:spPr>
          <a:xfrm>
            <a:off x="690372" y="1239012"/>
            <a:ext cx="283464" cy="283464"/>
          </a:xfrm>
          <a:prstGeom prst="rect">
            <a:avLst/>
          </a:prstGeom>
        </p:spPr>
      </p:pic>
      <p:sp>
        <p:nvSpPr>
          <p:cNvPr id="5" name="Text 2"/>
          <p:cNvSpPr txBox="1"/>
          <p:nvPr/>
        </p:nvSpPr>
        <p:spPr>
          <a:xfrm>
            <a:off x="1234440" y="1078992"/>
            <a:ext cx="2743200" cy="603504"/>
          </a:xfrm>
          <a:prstGeom prst="rect">
            <a:avLst/>
          </a:prstGeom>
          <a:noFill/>
          <a:ln/>
        </p:spPr>
        <p:txBody>
          <a:bodyPr wrap="square" lIns="0" tIns="0" rIns="0" bIns="0" rtlCol="0" anchor="ctr"/>
          <a:lstStyle/>
          <a:p>
            <a:pPr marL="0" indent="0">
              <a:buNone/>
            </a:pPr>
            <a:r>
              <a:rPr lang="en-US" sz="1800" b="1" dirty="0">
                <a:solidFill>
                  <a:srgbClr val="0F2A43"/>
                </a:solidFill>
              </a:rPr>
              <a:t>Clean and validate</a:t>
            </a:r>
            <a:endParaRPr lang="en-US" sz="1800" dirty="0"/>
          </a:p>
        </p:txBody>
      </p:sp>
      <p:sp>
        <p:nvSpPr>
          <p:cNvPr id="6" name="Text 3"/>
          <p:cNvSpPr txBox="1"/>
          <p:nvPr/>
        </p:nvSpPr>
        <p:spPr>
          <a:xfrm>
            <a:off x="3840480" y="1078992"/>
            <a:ext cx="4640580" cy="603504"/>
          </a:xfrm>
          <a:prstGeom prst="rect">
            <a:avLst/>
          </a:prstGeom>
          <a:noFill/>
          <a:ln/>
        </p:spPr>
        <p:txBody>
          <a:bodyPr wrap="square" lIns="0" tIns="0" rIns="0" bIns="0" rtlCol="0" anchor="ctr"/>
          <a:lstStyle/>
          <a:p>
            <a:pPr marL="0" indent="0">
              <a:buNone/>
            </a:pPr>
            <a:r>
              <a:rPr lang="en-US" sz="1400" dirty="0">
                <a:solidFill>
                  <a:srgbClr val="1B2A3A"/>
                </a:solidFill>
              </a:rPr>
              <a:t>Checked for missing values and confirmed ride_id is a unique primary key.</a:t>
            </a:r>
            <a:endParaRPr lang="en-US" sz="1400" dirty="0"/>
          </a:p>
        </p:txBody>
      </p:sp>
      <p:sp>
        <p:nvSpPr>
          <p:cNvPr id="7" name="Shape 4"/>
          <p:cNvSpPr/>
          <p:nvPr/>
        </p:nvSpPr>
        <p:spPr>
          <a:xfrm>
            <a:off x="541020" y="1819656"/>
            <a:ext cx="566928" cy="566928"/>
          </a:xfrm>
          <a:prstGeom prst="ellipse">
            <a:avLst/>
          </a:prstGeom>
          <a:solidFill>
            <a:srgbClr val="3B6FA6"/>
          </a:solidFill>
          <a:ln w="12700">
            <a:solidFill>
              <a:srgbClr val="3B6FA6"/>
            </a:solidFill>
            <a:prstDash val="solid"/>
          </a:ln>
        </p:spPr>
      </p:sp>
      <p:pic>
        <p:nvPicPr>
          <p:cNvPr id="8" name="Image 1" descr="preencoded.png"/>
          <p:cNvPicPr>
            <a:picLocks noChangeAspect="1"/>
          </p:cNvPicPr>
          <p:nvPr/>
        </p:nvPicPr>
        <p:blipFill>
          <a:blip r:embed="rId4"/>
          <a:stretch>
            <a:fillRect/>
          </a:stretch>
        </p:blipFill>
        <p:spPr>
          <a:xfrm>
            <a:off x="690372" y="1961388"/>
            <a:ext cx="283464" cy="283464"/>
          </a:xfrm>
          <a:prstGeom prst="rect">
            <a:avLst/>
          </a:prstGeom>
        </p:spPr>
      </p:pic>
      <p:sp>
        <p:nvSpPr>
          <p:cNvPr id="9" name="Text 5"/>
          <p:cNvSpPr txBox="1"/>
          <p:nvPr/>
        </p:nvSpPr>
        <p:spPr>
          <a:xfrm>
            <a:off x="1234440" y="1801368"/>
            <a:ext cx="2743200" cy="603504"/>
          </a:xfrm>
          <a:prstGeom prst="rect">
            <a:avLst/>
          </a:prstGeom>
          <a:noFill/>
          <a:ln/>
        </p:spPr>
        <p:txBody>
          <a:bodyPr wrap="square" lIns="0" tIns="0" rIns="0" bIns="0" rtlCol="0" anchor="ctr"/>
          <a:lstStyle/>
          <a:p>
            <a:pPr marL="0" indent="0">
              <a:buNone/>
            </a:pPr>
            <a:r>
              <a:rPr lang="en-US" sz="1800" b="1" dirty="0">
                <a:solidFill>
                  <a:srgbClr val="0F2A43"/>
                </a:solidFill>
              </a:rPr>
              <a:t>Engineer fields</a:t>
            </a:r>
            <a:endParaRPr lang="en-US" sz="1800" dirty="0"/>
          </a:p>
        </p:txBody>
      </p:sp>
      <p:sp>
        <p:nvSpPr>
          <p:cNvPr id="10" name="Text 6"/>
          <p:cNvSpPr txBox="1"/>
          <p:nvPr/>
        </p:nvSpPr>
        <p:spPr>
          <a:xfrm>
            <a:off x="3840480" y="1801368"/>
            <a:ext cx="4709160" cy="603504"/>
          </a:xfrm>
          <a:prstGeom prst="rect">
            <a:avLst/>
          </a:prstGeom>
          <a:noFill/>
          <a:ln/>
        </p:spPr>
        <p:txBody>
          <a:bodyPr wrap="square" lIns="0" tIns="0" rIns="0" bIns="0" rtlCol="0" anchor="ctr"/>
          <a:lstStyle/>
          <a:p>
            <a:pPr marL="0" indent="0">
              <a:buNone/>
            </a:pPr>
            <a:r>
              <a:rPr lang="en-US" sz="1400" dirty="0">
                <a:solidFill>
                  <a:srgbClr val="1B2A3A"/>
                </a:solidFill>
              </a:rPr>
              <a:t>Created time-of-day helper fields and a Route column (Start Station to End Station).</a:t>
            </a:r>
            <a:endParaRPr lang="en-US" sz="1400" dirty="0"/>
          </a:p>
        </p:txBody>
      </p:sp>
      <p:sp>
        <p:nvSpPr>
          <p:cNvPr id="11" name="Shape 7"/>
          <p:cNvSpPr/>
          <p:nvPr/>
        </p:nvSpPr>
        <p:spPr>
          <a:xfrm>
            <a:off x="541020" y="2542032"/>
            <a:ext cx="566928" cy="566928"/>
          </a:xfrm>
          <a:prstGeom prst="ellipse">
            <a:avLst/>
          </a:prstGeom>
          <a:solidFill>
            <a:schemeClr val="accent6">
              <a:lumMod val="40000"/>
              <a:lumOff val="60000"/>
            </a:schemeClr>
          </a:solidFill>
          <a:ln w="12700">
            <a:noFill/>
            <a:prstDash val="solid"/>
          </a:ln>
        </p:spPr>
      </p:sp>
      <p:pic>
        <p:nvPicPr>
          <p:cNvPr id="12" name="Image 2" descr="preencoded.png"/>
          <p:cNvPicPr>
            <a:picLocks noChangeAspect="1"/>
          </p:cNvPicPr>
          <p:nvPr/>
        </p:nvPicPr>
        <p:blipFill>
          <a:blip r:embed="rId5"/>
          <a:stretch>
            <a:fillRect/>
          </a:stretch>
        </p:blipFill>
        <p:spPr>
          <a:xfrm>
            <a:off x="690372" y="2683764"/>
            <a:ext cx="283464" cy="283464"/>
          </a:xfrm>
          <a:prstGeom prst="rect">
            <a:avLst/>
          </a:prstGeom>
        </p:spPr>
      </p:pic>
      <p:sp>
        <p:nvSpPr>
          <p:cNvPr id="13" name="Text 8"/>
          <p:cNvSpPr txBox="1"/>
          <p:nvPr/>
        </p:nvSpPr>
        <p:spPr>
          <a:xfrm>
            <a:off x="1234440" y="2523744"/>
            <a:ext cx="2743200" cy="603504"/>
          </a:xfrm>
          <a:prstGeom prst="rect">
            <a:avLst/>
          </a:prstGeom>
          <a:noFill/>
          <a:ln/>
        </p:spPr>
        <p:txBody>
          <a:bodyPr wrap="square" lIns="0" tIns="0" rIns="0" bIns="0" rtlCol="0" anchor="ctr"/>
          <a:lstStyle/>
          <a:p>
            <a:pPr marL="0" indent="0">
              <a:buNone/>
            </a:pPr>
            <a:r>
              <a:rPr lang="en-US" sz="1800" b="1" dirty="0">
                <a:solidFill>
                  <a:srgbClr val="0F2A43"/>
                </a:solidFill>
              </a:rPr>
              <a:t>Aggregate safely</a:t>
            </a:r>
            <a:endParaRPr lang="en-US" sz="1800" dirty="0"/>
          </a:p>
        </p:txBody>
      </p:sp>
      <p:sp>
        <p:nvSpPr>
          <p:cNvPr id="14" name="Text 9"/>
          <p:cNvSpPr txBox="1"/>
          <p:nvPr/>
        </p:nvSpPr>
        <p:spPr>
          <a:xfrm>
            <a:off x="3840480" y="2523744"/>
            <a:ext cx="4572000" cy="603504"/>
          </a:xfrm>
          <a:prstGeom prst="rect">
            <a:avLst/>
          </a:prstGeom>
          <a:noFill/>
          <a:ln/>
        </p:spPr>
        <p:txBody>
          <a:bodyPr wrap="square" lIns="0" tIns="0" rIns="0" bIns="0" rtlCol="0" anchor="ctr"/>
          <a:lstStyle/>
          <a:p>
            <a:pPr marL="0" indent="0">
              <a:buNone/>
            </a:pPr>
            <a:r>
              <a:rPr lang="en-US" sz="1400" dirty="0">
                <a:solidFill>
                  <a:srgbClr val="1B2A3A"/>
                </a:solidFill>
              </a:rPr>
              <a:t>Used COUNTD(Ride Id) in Tableau so duplicate rows never inflate the counts.</a:t>
            </a:r>
            <a:endParaRPr lang="en-US" sz="1400" dirty="0"/>
          </a:p>
        </p:txBody>
      </p:sp>
      <p:sp>
        <p:nvSpPr>
          <p:cNvPr id="15" name="Shape 10"/>
          <p:cNvSpPr/>
          <p:nvPr/>
        </p:nvSpPr>
        <p:spPr>
          <a:xfrm>
            <a:off x="541020" y="3264408"/>
            <a:ext cx="566928" cy="566928"/>
          </a:xfrm>
          <a:prstGeom prst="ellipse">
            <a:avLst/>
          </a:prstGeom>
          <a:solidFill>
            <a:srgbClr val="3B6FA6"/>
          </a:solidFill>
          <a:ln w="12700">
            <a:solidFill>
              <a:srgbClr val="3B6FA6"/>
            </a:solidFill>
            <a:prstDash val="solid"/>
          </a:ln>
        </p:spPr>
      </p:sp>
      <p:pic>
        <p:nvPicPr>
          <p:cNvPr id="16" name="Image 3" descr="preencoded.png"/>
          <p:cNvPicPr>
            <a:picLocks noChangeAspect="1"/>
          </p:cNvPicPr>
          <p:nvPr/>
        </p:nvPicPr>
        <p:blipFill>
          <a:blip r:embed="rId6"/>
          <a:stretch>
            <a:fillRect/>
          </a:stretch>
        </p:blipFill>
        <p:spPr>
          <a:xfrm>
            <a:off x="690372" y="3406140"/>
            <a:ext cx="283464" cy="283464"/>
          </a:xfrm>
          <a:prstGeom prst="rect">
            <a:avLst/>
          </a:prstGeom>
        </p:spPr>
      </p:pic>
      <p:sp>
        <p:nvSpPr>
          <p:cNvPr id="17" name="Text 11"/>
          <p:cNvSpPr txBox="1"/>
          <p:nvPr/>
        </p:nvSpPr>
        <p:spPr>
          <a:xfrm>
            <a:off x="1234440" y="3246120"/>
            <a:ext cx="2743200" cy="603504"/>
          </a:xfrm>
          <a:prstGeom prst="rect">
            <a:avLst/>
          </a:prstGeom>
          <a:noFill/>
          <a:ln/>
        </p:spPr>
        <p:txBody>
          <a:bodyPr wrap="square" lIns="0" tIns="0" rIns="0" bIns="0" rtlCol="0" anchor="ctr"/>
          <a:lstStyle/>
          <a:p>
            <a:pPr marL="0" indent="0">
              <a:buNone/>
            </a:pPr>
            <a:r>
              <a:rPr lang="en-US" sz="1800" b="1" dirty="0">
                <a:solidFill>
                  <a:srgbClr val="0F2A43"/>
                </a:solidFill>
              </a:rPr>
              <a:t>Visualize</a:t>
            </a:r>
            <a:endParaRPr lang="en-US" sz="1800" dirty="0"/>
          </a:p>
        </p:txBody>
      </p:sp>
      <p:sp>
        <p:nvSpPr>
          <p:cNvPr id="18" name="Text 12"/>
          <p:cNvSpPr txBox="1"/>
          <p:nvPr/>
        </p:nvSpPr>
        <p:spPr>
          <a:xfrm>
            <a:off x="3840480" y="3246120"/>
            <a:ext cx="4709160" cy="603504"/>
          </a:xfrm>
          <a:prstGeom prst="rect">
            <a:avLst/>
          </a:prstGeom>
          <a:noFill/>
          <a:ln/>
        </p:spPr>
        <p:txBody>
          <a:bodyPr wrap="square" lIns="0" tIns="0" rIns="0" bIns="0" rtlCol="0" anchor="ctr"/>
          <a:lstStyle/>
          <a:p>
            <a:pPr marL="0" indent="0">
              <a:buNone/>
            </a:pPr>
            <a:r>
              <a:rPr lang="en-US" sz="1400" dirty="0">
                <a:solidFill>
                  <a:srgbClr val="1B2A3A"/>
                </a:solidFill>
              </a:rPr>
              <a:t>Built stacked bar charts for start stations, end stations and routes, coloured by rider type.</a:t>
            </a:r>
            <a:endParaRPr lang="en-US" sz="1400" dirty="0"/>
          </a:p>
        </p:txBody>
      </p:sp>
      <p:sp>
        <p:nvSpPr>
          <p:cNvPr id="19" name="Shape 13"/>
          <p:cNvSpPr/>
          <p:nvPr/>
        </p:nvSpPr>
        <p:spPr>
          <a:xfrm>
            <a:off x="541020" y="3986784"/>
            <a:ext cx="566928" cy="566928"/>
          </a:xfrm>
          <a:prstGeom prst="ellipse">
            <a:avLst/>
          </a:prstGeom>
          <a:solidFill>
            <a:schemeClr val="accent6">
              <a:lumMod val="40000"/>
              <a:lumOff val="60000"/>
            </a:schemeClr>
          </a:solidFill>
          <a:ln w="12700">
            <a:noFill/>
            <a:prstDash val="solid"/>
          </a:ln>
        </p:spPr>
      </p:sp>
      <p:pic>
        <p:nvPicPr>
          <p:cNvPr id="20" name="Image 4" descr="preencoded.png"/>
          <p:cNvPicPr>
            <a:picLocks noChangeAspect="1"/>
          </p:cNvPicPr>
          <p:nvPr/>
        </p:nvPicPr>
        <p:blipFill>
          <a:blip r:embed="rId7"/>
          <a:stretch>
            <a:fillRect/>
          </a:stretch>
        </p:blipFill>
        <p:spPr>
          <a:xfrm>
            <a:off x="690372" y="4128516"/>
            <a:ext cx="283464" cy="283464"/>
          </a:xfrm>
          <a:prstGeom prst="rect">
            <a:avLst/>
          </a:prstGeom>
        </p:spPr>
      </p:pic>
      <p:sp>
        <p:nvSpPr>
          <p:cNvPr id="21" name="Text 14"/>
          <p:cNvSpPr txBox="1"/>
          <p:nvPr/>
        </p:nvSpPr>
        <p:spPr>
          <a:xfrm>
            <a:off x="1234440" y="3968496"/>
            <a:ext cx="2743200" cy="603504"/>
          </a:xfrm>
          <a:prstGeom prst="rect">
            <a:avLst/>
          </a:prstGeom>
          <a:noFill/>
          <a:ln/>
        </p:spPr>
        <p:txBody>
          <a:bodyPr wrap="square" lIns="0" tIns="0" rIns="0" bIns="0" rtlCol="0" anchor="ctr"/>
          <a:lstStyle/>
          <a:p>
            <a:pPr marL="0" indent="0">
              <a:buNone/>
            </a:pPr>
            <a:r>
              <a:rPr lang="en-US" sz="1800" b="1" dirty="0">
                <a:solidFill>
                  <a:srgbClr val="0F2A43"/>
                </a:solidFill>
              </a:rPr>
              <a:t>Combine</a:t>
            </a:r>
            <a:endParaRPr lang="en-US" sz="1800" dirty="0"/>
          </a:p>
        </p:txBody>
      </p:sp>
      <p:sp>
        <p:nvSpPr>
          <p:cNvPr id="22" name="Text 15"/>
          <p:cNvSpPr txBox="1"/>
          <p:nvPr/>
        </p:nvSpPr>
        <p:spPr>
          <a:xfrm>
            <a:off x="3840480" y="3968496"/>
            <a:ext cx="4640580" cy="603504"/>
          </a:xfrm>
          <a:prstGeom prst="rect">
            <a:avLst/>
          </a:prstGeom>
          <a:noFill/>
          <a:ln/>
        </p:spPr>
        <p:txBody>
          <a:bodyPr wrap="square" lIns="0" tIns="0" rIns="0" bIns="0" rtlCol="0" anchor="ctr"/>
          <a:lstStyle/>
          <a:p>
            <a:pPr marL="0" indent="0">
              <a:buNone/>
            </a:pPr>
            <a:r>
              <a:rPr lang="en-US" sz="1400" dirty="0">
                <a:solidFill>
                  <a:srgbClr val="1B2A3A"/>
                </a:solidFill>
              </a:rPr>
              <a:t>Merged all three views into one dashboard with cross-filtering across them.</a:t>
            </a:r>
            <a:endParaRPr lang="en-US" sz="14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l"/>
            <a:fld id="{F7021451-1387-4CA6-816F-3879F97B5CBC}" type="slidenum">
              <a:rPr lang="en-US" b="0"/>
              <a:t>3</a:t>
            </a:fld>
            <a:endParaRPr lang="en-US"/>
          </a:p>
        </p:txBody>
      </p:sp>
      <p:sp>
        <p:nvSpPr>
          <p:cNvPr id="23" name="TextBox 22"/>
          <p:cNvSpPr txBox="1"/>
          <p:nvPr/>
        </p:nvSpPr>
        <p:spPr>
          <a:xfrm>
            <a:off x="2109216" y="485894"/>
            <a:ext cx="5213604" cy="400110"/>
          </a:xfrm>
          <a:prstGeom prst="rect">
            <a:avLst/>
          </a:prstGeom>
          <a:noFill/>
        </p:spPr>
        <p:txBody>
          <a:bodyPr wrap="square" rtlCol="0">
            <a:spAutoFit/>
          </a:bodyPr>
          <a:lstStyle/>
          <a:p>
            <a:r>
              <a:rPr lang="en-US" sz="2000" b="1" u="sng" dirty="0">
                <a:solidFill>
                  <a:schemeClr val="bg1"/>
                </a:solidFill>
              </a:rPr>
              <a:t>Methodology: From Raw Trips to </a:t>
            </a:r>
            <a:r>
              <a:rPr lang="en-US" sz="2000" b="1" u="sng" dirty="0" smtClean="0">
                <a:solidFill>
                  <a:schemeClr val="bg1"/>
                </a:solidFill>
              </a:rPr>
              <a:t>Dashboard</a:t>
            </a:r>
            <a:endParaRPr lang="en-US" sz="2000" b="1" u="sng"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lgn="ctr">
              <a:buNone/>
            </a:pPr>
            <a:endParaRPr lang="en-US" dirty="0"/>
          </a:p>
        </p:txBody>
      </p:sp>
      <p:graphicFrame>
        <p:nvGraphicFramePr>
          <p:cNvPr id="3" name="Chart 0"/>
          <p:cNvGraphicFramePr/>
          <p:nvPr>
            <p:extLst>
              <p:ext uri="{D42A27DB-BD31-4B8C-83A1-F6EECF244321}">
                <p14:modId xmlns:p14="http://schemas.microsoft.com/office/powerpoint/2010/main" val="3284977859"/>
              </p:ext>
            </p:extLst>
          </p:nvPr>
        </p:nvGraphicFramePr>
        <p:xfrm>
          <a:off x="365760" y="1005840"/>
          <a:ext cx="53949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943600" y="967740"/>
            <a:ext cx="2560320" cy="3383280"/>
          </a:xfrm>
          <a:prstGeom prst="rect">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5" name="Text 2"/>
          <p:cNvSpPr txBox="1"/>
          <p:nvPr/>
        </p:nvSpPr>
        <p:spPr>
          <a:xfrm>
            <a:off x="6126480" y="1059180"/>
            <a:ext cx="2377440" cy="365760"/>
          </a:xfrm>
          <a:prstGeom prst="rect">
            <a:avLst/>
          </a:prstGeom>
          <a:noFill/>
          <a:ln/>
        </p:spPr>
        <p:txBody>
          <a:bodyPr wrap="square" lIns="0" tIns="0" rIns="0" bIns="0" rtlCol="0" anchor="ctr"/>
          <a:lstStyle/>
          <a:p>
            <a:pPr marL="0" indent="0">
              <a:buNone/>
            </a:pPr>
            <a:r>
              <a:rPr lang="en-US" sz="1800" b="1" dirty="0">
                <a:solidFill>
                  <a:srgbClr val="0F2A43"/>
                </a:solidFill>
              </a:rPr>
              <a:t>What stands out</a:t>
            </a:r>
            <a:endParaRPr lang="en-US" sz="1800" dirty="0"/>
          </a:p>
        </p:txBody>
      </p:sp>
      <p:sp>
        <p:nvSpPr>
          <p:cNvPr id="6" name="Text 3"/>
          <p:cNvSpPr txBox="1"/>
          <p:nvPr/>
        </p:nvSpPr>
        <p:spPr>
          <a:xfrm>
            <a:off x="6126480" y="1470660"/>
            <a:ext cx="2377440" cy="2788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A3A"/>
                </a:solidFill>
              </a:rPr>
              <a:t>Clark St &amp; Elm St leads with 850 rides.</a:t>
            </a:r>
            <a:endParaRPr lang="en-US" sz="1400" dirty="0"/>
          </a:p>
          <a:p>
            <a:pPr marL="342900" indent="-342900">
              <a:spcAft>
                <a:spcPts val="800"/>
              </a:spcAft>
              <a:buSzPct val="100000"/>
              <a:buChar char="•"/>
            </a:pPr>
            <a:r>
              <a:rPr lang="en-US" sz="1400" dirty="0">
                <a:solidFill>
                  <a:srgbClr val="1B2A3A"/>
                </a:solidFill>
              </a:rPr>
              <a:t>Members out-ride casuals at all 10 stations (73% of volume).</a:t>
            </a:r>
            <a:endParaRPr lang="en-US" sz="1400" dirty="0"/>
          </a:p>
          <a:p>
            <a:pPr marL="342900" indent="-342900">
              <a:spcAft>
                <a:spcPts val="800"/>
              </a:spcAft>
              <a:buSzPct val="100000"/>
              <a:buChar char="•"/>
            </a:pPr>
            <a:r>
              <a:rPr lang="en-US" sz="1400" dirty="0">
                <a:solidFill>
                  <a:srgbClr val="1B2A3A"/>
                </a:solidFill>
              </a:rPr>
              <a:t>Casual counts peak at Clark &amp; Elm (246), Wabash &amp; Grand (206) and Desplaines &amp; Kinzie (204).</a:t>
            </a:r>
            <a:endParaRPr lang="en-US" sz="1400" dirty="0"/>
          </a:p>
          <a:p>
            <a:pPr marL="342900" indent="-342900">
              <a:spcAft>
                <a:spcPts val="800"/>
              </a:spcAft>
              <a:buSzPct val="100000"/>
              <a:buChar char="•"/>
            </a:pPr>
            <a:r>
              <a:rPr lang="en-US" sz="1400" dirty="0">
                <a:solidFill>
                  <a:srgbClr val="1B2A3A"/>
                </a:solidFill>
              </a:rPr>
              <a:t>St. Clair &amp; Erie is the most member-heavy, with 86% members.</a:t>
            </a:r>
            <a:endParaRPr lang="en-US" sz="1400" dirty="0"/>
          </a:p>
        </p:txBody>
      </p:sp>
      <p:sp>
        <p:nvSpPr>
          <p:cNvPr id="7" name="Text 4"/>
          <p:cNvSpPr txBox="1"/>
          <p:nvPr/>
        </p:nvSpPr>
        <p:spPr>
          <a:xfrm>
            <a:off x="822960" y="4530852"/>
            <a:ext cx="5303520" cy="228600"/>
          </a:xfrm>
          <a:prstGeom prst="rect">
            <a:avLst/>
          </a:prstGeom>
          <a:noFill/>
          <a:ln/>
        </p:spPr>
        <p:txBody>
          <a:bodyPr wrap="square" lIns="0" tIns="0" rIns="0" bIns="0" rtlCol="0" anchor="ctr"/>
          <a:lstStyle/>
          <a:p>
            <a:pPr marL="0" indent="0">
              <a:buNone/>
            </a:pPr>
            <a:r>
              <a:rPr lang="en-US" sz="1000" i="1" dirty="0">
                <a:solidFill>
                  <a:srgbClr val="5B6B7B"/>
                </a:solidFill>
              </a:rPr>
              <a:t>Source: Tableau dashboard, Top Start Stations tab; April 2020</a:t>
            </a:r>
            <a:endParaRPr lang="en-US" sz="1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l"/>
            <a:fld id="{F7021451-1387-4CA6-816F-3879F97B5CBC}" type="slidenum">
              <a:rPr lang="en-US" b="0"/>
              <a:t>4</a:t>
            </a:fld>
            <a:endParaRPr lang="en-US"/>
          </a:p>
        </p:txBody>
      </p:sp>
      <p:sp>
        <p:nvSpPr>
          <p:cNvPr id="8" name="TextBox 7"/>
          <p:cNvSpPr txBox="1"/>
          <p:nvPr/>
        </p:nvSpPr>
        <p:spPr>
          <a:xfrm>
            <a:off x="2468880" y="493776"/>
            <a:ext cx="2779776" cy="400110"/>
          </a:xfrm>
          <a:prstGeom prst="rect">
            <a:avLst/>
          </a:prstGeom>
          <a:noFill/>
        </p:spPr>
        <p:txBody>
          <a:bodyPr wrap="square" rtlCol="0">
            <a:spAutoFit/>
          </a:bodyPr>
          <a:lstStyle/>
          <a:p>
            <a:r>
              <a:rPr lang="en-US" sz="2000" b="1" u="sng" dirty="0">
                <a:solidFill>
                  <a:schemeClr val="bg1"/>
                </a:solidFill>
              </a:rPr>
              <a:t>Top 10 Start </a:t>
            </a:r>
            <a:r>
              <a:rPr lang="en-US" sz="2000" b="1" u="sng" dirty="0" smtClean="0">
                <a:solidFill>
                  <a:schemeClr val="bg1"/>
                </a:solidFill>
              </a:rPr>
              <a:t>Stations</a:t>
            </a:r>
            <a:endParaRPr lang="en-US" sz="2000" b="1" u="sng" dirty="0">
              <a:solidFill>
                <a:schemeClr val="bg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lgn="ctr">
              <a:buNone/>
            </a:pPr>
            <a:endParaRPr lang="en-US" dirty="0"/>
          </a:p>
        </p:txBody>
      </p:sp>
      <p:graphicFrame>
        <p:nvGraphicFramePr>
          <p:cNvPr id="3" name="Chart 0"/>
          <p:cNvGraphicFramePr/>
          <p:nvPr>
            <p:extLst>
              <p:ext uri="{D42A27DB-BD31-4B8C-83A1-F6EECF244321}">
                <p14:modId xmlns:p14="http://schemas.microsoft.com/office/powerpoint/2010/main" val="241831529"/>
              </p:ext>
            </p:extLst>
          </p:nvPr>
        </p:nvGraphicFramePr>
        <p:xfrm>
          <a:off x="365760" y="1005840"/>
          <a:ext cx="53949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859780" y="942654"/>
            <a:ext cx="2720340" cy="3537906"/>
          </a:xfrm>
          <a:prstGeom prst="rect">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5" name="Text 2"/>
          <p:cNvSpPr txBox="1"/>
          <p:nvPr/>
        </p:nvSpPr>
        <p:spPr>
          <a:xfrm>
            <a:off x="6126480" y="1005840"/>
            <a:ext cx="2377440" cy="365760"/>
          </a:xfrm>
          <a:prstGeom prst="rect">
            <a:avLst/>
          </a:prstGeom>
          <a:noFill/>
          <a:ln/>
        </p:spPr>
        <p:txBody>
          <a:bodyPr wrap="square" lIns="0" tIns="0" rIns="0" bIns="0" rtlCol="0" anchor="ctr"/>
          <a:lstStyle/>
          <a:p>
            <a:pPr marL="0" indent="0">
              <a:buNone/>
            </a:pPr>
            <a:r>
              <a:rPr lang="en-US" sz="1800" b="1" dirty="0">
                <a:solidFill>
                  <a:srgbClr val="0F2A43"/>
                </a:solidFill>
              </a:rPr>
              <a:t>What stands out</a:t>
            </a:r>
            <a:endParaRPr lang="en-US" sz="1800" dirty="0"/>
          </a:p>
        </p:txBody>
      </p:sp>
      <p:sp>
        <p:nvSpPr>
          <p:cNvPr id="6" name="Text 3"/>
          <p:cNvSpPr txBox="1"/>
          <p:nvPr/>
        </p:nvSpPr>
        <p:spPr>
          <a:xfrm>
            <a:off x="5951220" y="1371600"/>
            <a:ext cx="2377440" cy="2788920"/>
          </a:xfrm>
          <a:prstGeom prst="rect">
            <a:avLst/>
          </a:prstGeom>
          <a:noFill/>
          <a:ln/>
        </p:spPr>
        <p:txBody>
          <a:bodyPr wrap="square" lIns="0" tIns="0" rIns="0" bIns="0" rtlCol="0" anchor="t"/>
          <a:lstStyle/>
          <a:p>
            <a:pPr marL="285750" indent="-285750" algn="just">
              <a:spcAft>
                <a:spcPts val="800"/>
              </a:spcAft>
              <a:buSzPct val="100000"/>
              <a:buFont typeface="Arial" panose="020B0604020202020204" pitchFamily="34" charset="0"/>
              <a:buChar char="•"/>
            </a:pPr>
            <a:r>
              <a:rPr lang="en-US" sz="1400" dirty="0">
                <a:solidFill>
                  <a:srgbClr val="1B2A3A"/>
                </a:solidFill>
              </a:rPr>
              <a:t>The same stations dominate the end of trips, led again by Clark St &amp; Elm St (893).</a:t>
            </a:r>
            <a:endParaRPr lang="en-US" sz="1400" dirty="0"/>
          </a:p>
          <a:p>
            <a:pPr marL="285750" indent="-285750" algn="just">
              <a:spcAft>
                <a:spcPts val="800"/>
              </a:spcAft>
              <a:buSzPct val="100000"/>
              <a:buFont typeface="Arial" panose="020B0604020202020204" pitchFamily="34" charset="0"/>
              <a:buChar char="•"/>
            </a:pPr>
            <a:r>
              <a:rPr lang="en-US" sz="1400" dirty="0">
                <a:solidFill>
                  <a:srgbClr val="1B2A3A"/>
                </a:solidFill>
              </a:rPr>
              <a:t>Members make up about 76% of top end-station rides.</a:t>
            </a:r>
            <a:endParaRPr lang="en-US" sz="1400" dirty="0"/>
          </a:p>
          <a:p>
            <a:pPr marL="285750" indent="-285750" algn="just">
              <a:spcAft>
                <a:spcPts val="800"/>
              </a:spcAft>
              <a:buSzPct val="100000"/>
              <a:buFont typeface="Arial" panose="020B0604020202020204" pitchFamily="34" charset="0"/>
              <a:buChar char="•"/>
            </a:pPr>
            <a:r>
              <a:rPr lang="en-US" sz="1400" dirty="0">
                <a:solidFill>
                  <a:srgbClr val="1B2A3A"/>
                </a:solidFill>
              </a:rPr>
              <a:t>Casual riders are most active at Clark &amp; Elm (218), Dearborn &amp; Erie (198) and Wabash &amp; Grand (179).</a:t>
            </a:r>
            <a:endParaRPr lang="en-US" sz="1400" dirty="0"/>
          </a:p>
          <a:p>
            <a:pPr marL="285750" indent="-285750" algn="just">
              <a:spcAft>
                <a:spcPts val="800"/>
              </a:spcAft>
              <a:buSzPct val="100000"/>
              <a:buFont typeface="Arial" panose="020B0604020202020204" pitchFamily="34" charset="0"/>
              <a:buChar char="•"/>
            </a:pPr>
            <a:r>
              <a:rPr lang="en-US" sz="1400" dirty="0">
                <a:solidFill>
                  <a:srgbClr val="1B2A3A"/>
                </a:solidFill>
              </a:rPr>
              <a:t>Start and end lists overlap heavily: riders tend to start and finish in the same busy areas.</a:t>
            </a:r>
            <a:endParaRPr lang="en-US" sz="1400" dirty="0"/>
          </a:p>
        </p:txBody>
      </p:sp>
      <p:sp>
        <p:nvSpPr>
          <p:cNvPr id="7" name="Text 4"/>
          <p:cNvSpPr txBox="1"/>
          <p:nvPr/>
        </p:nvSpPr>
        <p:spPr>
          <a:xfrm>
            <a:off x="822960" y="4536126"/>
            <a:ext cx="5303520" cy="228600"/>
          </a:xfrm>
          <a:prstGeom prst="rect">
            <a:avLst/>
          </a:prstGeom>
          <a:noFill/>
          <a:ln/>
        </p:spPr>
        <p:txBody>
          <a:bodyPr wrap="square" lIns="0" tIns="0" rIns="0" bIns="0" rtlCol="0" anchor="ctr"/>
          <a:lstStyle/>
          <a:p>
            <a:pPr marL="0" indent="0">
              <a:buNone/>
            </a:pPr>
            <a:r>
              <a:rPr lang="en-US" sz="1000" i="1" dirty="0">
                <a:solidFill>
                  <a:srgbClr val="5B6B7B"/>
                </a:solidFill>
              </a:rPr>
              <a:t>Source: Tableau dashboard, Top End Stations tab; April 2020</a:t>
            </a:r>
            <a:endParaRPr lang="en-US" sz="1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l"/>
            <a:fld id="{F7021451-1387-4CA6-816F-3879F97B5CBC}" type="slidenum">
              <a:rPr lang="en-US" b="0"/>
              <a:t>5</a:t>
            </a:fld>
            <a:endParaRPr lang="en-US"/>
          </a:p>
        </p:txBody>
      </p:sp>
      <p:sp>
        <p:nvSpPr>
          <p:cNvPr id="8" name="TextBox 7"/>
          <p:cNvSpPr txBox="1"/>
          <p:nvPr/>
        </p:nvSpPr>
        <p:spPr>
          <a:xfrm>
            <a:off x="2383536" y="542544"/>
            <a:ext cx="2785872" cy="400110"/>
          </a:xfrm>
          <a:prstGeom prst="rect">
            <a:avLst/>
          </a:prstGeom>
          <a:noFill/>
        </p:spPr>
        <p:txBody>
          <a:bodyPr wrap="square" rtlCol="0">
            <a:spAutoFit/>
          </a:bodyPr>
          <a:lstStyle/>
          <a:p>
            <a:r>
              <a:rPr lang="en-US" sz="2000" b="1" u="sng" dirty="0">
                <a:solidFill>
                  <a:schemeClr val="bg1"/>
                </a:solidFill>
              </a:rPr>
              <a:t>Top 10 End </a:t>
            </a:r>
            <a:r>
              <a:rPr lang="en-US" sz="2000" b="1" u="sng" dirty="0" smtClean="0">
                <a:solidFill>
                  <a:schemeClr val="bg1"/>
                </a:solidFill>
              </a:rPr>
              <a:t>Stations</a:t>
            </a:r>
            <a:endParaRPr lang="en-US" sz="2000" b="1" u="sng"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buNone/>
            </a:pPr>
            <a:endParaRPr lang="en-US" dirty="0"/>
          </a:p>
        </p:txBody>
      </p:sp>
      <p:graphicFrame>
        <p:nvGraphicFramePr>
          <p:cNvPr id="3" name="Chart 0"/>
          <p:cNvGraphicFramePr/>
          <p:nvPr>
            <p:extLst>
              <p:ext uri="{D42A27DB-BD31-4B8C-83A1-F6EECF244321}">
                <p14:modId xmlns:p14="http://schemas.microsoft.com/office/powerpoint/2010/main" val="2114911852"/>
              </p:ext>
            </p:extLst>
          </p:nvPr>
        </p:nvGraphicFramePr>
        <p:xfrm>
          <a:off x="365760" y="1005840"/>
          <a:ext cx="539496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Shape 1"/>
          <p:cNvSpPr/>
          <p:nvPr/>
        </p:nvSpPr>
        <p:spPr>
          <a:xfrm>
            <a:off x="5943600" y="1097280"/>
            <a:ext cx="2560320" cy="3169920"/>
          </a:xfrm>
          <a:prstGeom prst="rect">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5" name="Text 2"/>
          <p:cNvSpPr txBox="1"/>
          <p:nvPr/>
        </p:nvSpPr>
        <p:spPr>
          <a:xfrm>
            <a:off x="6126480" y="1188720"/>
            <a:ext cx="2377440" cy="365760"/>
          </a:xfrm>
          <a:prstGeom prst="rect">
            <a:avLst/>
          </a:prstGeom>
          <a:noFill/>
          <a:ln/>
        </p:spPr>
        <p:txBody>
          <a:bodyPr wrap="square" lIns="0" tIns="0" rIns="0" bIns="0" rtlCol="0" anchor="ctr"/>
          <a:lstStyle/>
          <a:p>
            <a:pPr marL="0" indent="0">
              <a:buNone/>
            </a:pPr>
            <a:r>
              <a:rPr lang="en-US" sz="1800" b="1" dirty="0">
                <a:solidFill>
                  <a:srgbClr val="0F2A43"/>
                </a:solidFill>
              </a:rPr>
              <a:t>What stands out</a:t>
            </a:r>
            <a:endParaRPr lang="en-US" sz="1800" dirty="0"/>
          </a:p>
        </p:txBody>
      </p:sp>
      <p:sp>
        <p:nvSpPr>
          <p:cNvPr id="6" name="Text 3"/>
          <p:cNvSpPr txBox="1"/>
          <p:nvPr/>
        </p:nvSpPr>
        <p:spPr>
          <a:xfrm>
            <a:off x="6126480" y="1600200"/>
            <a:ext cx="2377440" cy="27889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B2A3A"/>
                </a:solidFill>
              </a:rPr>
              <a:t>Every top route starts and ends at the same station: round trips, a leisure-style pattern.</a:t>
            </a:r>
            <a:endParaRPr lang="en-US" sz="1400" dirty="0"/>
          </a:p>
          <a:p>
            <a:pPr marL="342900" indent="-342900">
              <a:spcAft>
                <a:spcPts val="800"/>
              </a:spcAft>
              <a:buSzPct val="100000"/>
              <a:buChar char="•"/>
            </a:pPr>
            <a:r>
              <a:rPr lang="en-US" sz="1400" dirty="0">
                <a:solidFill>
                  <a:srgbClr val="1B2A3A"/>
                </a:solidFill>
              </a:rPr>
              <a:t>Casual share jumps to 45% on routes, versus about 27% at start stations.</a:t>
            </a:r>
            <a:endParaRPr lang="en-US" sz="1400" dirty="0"/>
          </a:p>
          <a:p>
            <a:pPr marL="342900" indent="-342900">
              <a:spcAft>
                <a:spcPts val="800"/>
              </a:spcAft>
              <a:buSzPct val="100000"/>
              <a:buChar char="•"/>
            </a:pPr>
            <a:r>
              <a:rPr lang="en-US" sz="1400" dirty="0">
                <a:solidFill>
                  <a:srgbClr val="1B2A3A"/>
                </a:solidFill>
              </a:rPr>
              <a:t>Casual riders lead on Wells &amp; Elm (64%), Stockton &amp; Wrightwood (61%) and Indiana &amp; Roosevelt (61%).</a:t>
            </a:r>
            <a:endParaRPr lang="en-US" sz="1400" dirty="0"/>
          </a:p>
        </p:txBody>
      </p:sp>
      <p:sp>
        <p:nvSpPr>
          <p:cNvPr id="7" name="Text 4"/>
          <p:cNvSpPr txBox="1"/>
          <p:nvPr/>
        </p:nvSpPr>
        <p:spPr>
          <a:xfrm>
            <a:off x="822960" y="4480560"/>
            <a:ext cx="5303520" cy="228600"/>
          </a:xfrm>
          <a:prstGeom prst="rect">
            <a:avLst/>
          </a:prstGeom>
          <a:noFill/>
          <a:ln/>
        </p:spPr>
        <p:txBody>
          <a:bodyPr wrap="square" lIns="0" tIns="0" rIns="0" bIns="0" rtlCol="0" anchor="ctr"/>
          <a:lstStyle/>
          <a:p>
            <a:pPr marL="0" indent="0">
              <a:buNone/>
            </a:pPr>
            <a:r>
              <a:rPr lang="en-US" sz="1000" i="1" dirty="0">
                <a:solidFill>
                  <a:srgbClr val="5B6B7B"/>
                </a:solidFill>
              </a:rPr>
              <a:t>Route = Start Station to End Station; all 10 routes are same-station round trips; April 2020</a:t>
            </a:r>
            <a:endParaRPr lang="en-US" sz="10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l"/>
            <a:fld id="{F7021451-1387-4CA6-816F-3879F97B5CBC}" type="slidenum">
              <a:rPr lang="en-US" b="0"/>
              <a:t>6</a:t>
            </a:fld>
            <a:endParaRPr lang="en-US"/>
          </a:p>
        </p:txBody>
      </p:sp>
      <p:sp>
        <p:nvSpPr>
          <p:cNvPr id="8" name="TextBox 7"/>
          <p:cNvSpPr txBox="1"/>
          <p:nvPr/>
        </p:nvSpPr>
        <p:spPr>
          <a:xfrm>
            <a:off x="2261616" y="524256"/>
            <a:ext cx="3011424" cy="400110"/>
          </a:xfrm>
          <a:prstGeom prst="rect">
            <a:avLst/>
          </a:prstGeom>
          <a:noFill/>
        </p:spPr>
        <p:txBody>
          <a:bodyPr wrap="square" rtlCol="0">
            <a:spAutoFit/>
          </a:bodyPr>
          <a:lstStyle/>
          <a:p>
            <a:r>
              <a:rPr lang="en-US" sz="2000" b="1" u="sng" dirty="0">
                <a:solidFill>
                  <a:schemeClr val="bg1"/>
                </a:solidFill>
              </a:rPr>
              <a:t>Top 10 Popular </a:t>
            </a:r>
            <a:r>
              <a:rPr lang="en-US" sz="2000" b="1" u="sng" dirty="0" smtClean="0">
                <a:solidFill>
                  <a:schemeClr val="bg1"/>
                </a:solidFill>
              </a:rPr>
              <a:t>Routes</a:t>
            </a:r>
            <a:endParaRPr lang="en-US" sz="2000" b="1" u="sng" dirty="0">
              <a:solidFill>
                <a:schemeClr val="bg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buNone/>
            </a:pPr>
            <a:endParaRPr lang="en-US" dirty="0"/>
          </a:p>
        </p:txBody>
      </p:sp>
      <p:sp>
        <p:nvSpPr>
          <p:cNvPr id="3" name="Shape 1"/>
          <p:cNvSpPr/>
          <p:nvPr/>
        </p:nvSpPr>
        <p:spPr>
          <a:xfrm>
            <a:off x="457200" y="1097280"/>
            <a:ext cx="2560320" cy="1325880"/>
          </a:xfrm>
          <a:prstGeom prst="rect">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4" name="Text 2"/>
          <p:cNvSpPr txBox="1"/>
          <p:nvPr/>
        </p:nvSpPr>
        <p:spPr>
          <a:xfrm>
            <a:off x="640080" y="1188720"/>
            <a:ext cx="2194560" cy="685800"/>
          </a:xfrm>
          <a:prstGeom prst="rect">
            <a:avLst/>
          </a:prstGeom>
          <a:noFill/>
          <a:ln/>
        </p:spPr>
        <p:txBody>
          <a:bodyPr wrap="square" lIns="0" tIns="0" rIns="0" bIns="0" rtlCol="0" anchor="ctr"/>
          <a:lstStyle/>
          <a:p>
            <a:pPr marL="0" indent="0">
              <a:buNone/>
            </a:pPr>
            <a:r>
              <a:rPr lang="en-US" sz="4400" b="1" dirty="0">
                <a:solidFill>
                  <a:srgbClr val="3B6FA6"/>
                </a:solidFill>
                <a:latin typeface="+mj-lt" pitchFamily="34" charset="0"/>
                <a:ea typeface="+mj-lt" pitchFamily="34" charset="-122"/>
                <a:cs typeface="+mj-lt" pitchFamily="34" charset="-120"/>
              </a:rPr>
              <a:t>27%</a:t>
            </a:r>
            <a:endParaRPr lang="en-US" sz="4400" dirty="0"/>
          </a:p>
        </p:txBody>
      </p:sp>
      <p:sp>
        <p:nvSpPr>
          <p:cNvPr id="5" name="Text 3"/>
          <p:cNvSpPr txBox="1"/>
          <p:nvPr/>
        </p:nvSpPr>
        <p:spPr>
          <a:xfrm>
            <a:off x="640080" y="1874520"/>
            <a:ext cx="2194560" cy="457200"/>
          </a:xfrm>
          <a:prstGeom prst="rect">
            <a:avLst/>
          </a:prstGeom>
          <a:noFill/>
          <a:ln/>
        </p:spPr>
        <p:txBody>
          <a:bodyPr wrap="square" lIns="0" tIns="0" rIns="0" bIns="0" rtlCol="0" anchor="ctr"/>
          <a:lstStyle/>
          <a:p>
            <a:pPr marL="0" indent="0">
              <a:buNone/>
            </a:pPr>
            <a:r>
              <a:rPr lang="en-US" sz="1400" dirty="0">
                <a:solidFill>
                  <a:srgbClr val="5B6B7B"/>
                </a:solidFill>
              </a:rPr>
              <a:t>of top start-station rides are casual</a:t>
            </a:r>
            <a:endParaRPr lang="en-US" sz="1400" dirty="0"/>
          </a:p>
        </p:txBody>
      </p:sp>
      <p:sp>
        <p:nvSpPr>
          <p:cNvPr id="6" name="Shape 4"/>
          <p:cNvSpPr/>
          <p:nvPr/>
        </p:nvSpPr>
        <p:spPr>
          <a:xfrm>
            <a:off x="3291840" y="1097280"/>
            <a:ext cx="2560320" cy="1325880"/>
          </a:xfrm>
          <a:prstGeom prst="rect">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7" name="Text 5"/>
          <p:cNvSpPr txBox="1"/>
          <p:nvPr/>
        </p:nvSpPr>
        <p:spPr>
          <a:xfrm>
            <a:off x="3474720" y="1188720"/>
            <a:ext cx="2194560" cy="685800"/>
          </a:xfrm>
          <a:prstGeom prst="rect">
            <a:avLst/>
          </a:prstGeom>
          <a:noFill/>
          <a:ln/>
        </p:spPr>
        <p:txBody>
          <a:bodyPr wrap="square" lIns="0" tIns="0" rIns="0" bIns="0" rtlCol="0" anchor="ctr"/>
          <a:lstStyle/>
          <a:p>
            <a:pPr marL="0" indent="0">
              <a:buNone/>
            </a:pPr>
            <a:r>
              <a:rPr lang="en-US" sz="4400" b="1" dirty="0">
                <a:solidFill>
                  <a:srgbClr val="3B6FA6"/>
                </a:solidFill>
                <a:latin typeface="+mj-lt" pitchFamily="34" charset="0"/>
                <a:ea typeface="+mj-lt" pitchFamily="34" charset="-122"/>
                <a:cs typeface="+mj-lt" pitchFamily="34" charset="-120"/>
              </a:rPr>
              <a:t>24%</a:t>
            </a:r>
            <a:endParaRPr lang="en-US" sz="4400" dirty="0"/>
          </a:p>
        </p:txBody>
      </p:sp>
      <p:sp>
        <p:nvSpPr>
          <p:cNvPr id="8" name="Text 6"/>
          <p:cNvSpPr txBox="1"/>
          <p:nvPr/>
        </p:nvSpPr>
        <p:spPr>
          <a:xfrm>
            <a:off x="3474720" y="1874520"/>
            <a:ext cx="2194560" cy="457200"/>
          </a:xfrm>
          <a:prstGeom prst="rect">
            <a:avLst/>
          </a:prstGeom>
          <a:noFill/>
          <a:ln/>
        </p:spPr>
        <p:txBody>
          <a:bodyPr wrap="square" lIns="0" tIns="0" rIns="0" bIns="0" rtlCol="0" anchor="ctr"/>
          <a:lstStyle/>
          <a:p>
            <a:pPr marL="0" indent="0">
              <a:buNone/>
            </a:pPr>
            <a:r>
              <a:rPr lang="en-US" sz="1400" dirty="0">
                <a:solidFill>
                  <a:srgbClr val="5B6B7B"/>
                </a:solidFill>
              </a:rPr>
              <a:t>of top end-station rides are casual</a:t>
            </a:r>
            <a:endParaRPr lang="en-US" sz="1400" dirty="0"/>
          </a:p>
        </p:txBody>
      </p:sp>
      <p:sp>
        <p:nvSpPr>
          <p:cNvPr id="9" name="Shape 7"/>
          <p:cNvSpPr/>
          <p:nvPr/>
        </p:nvSpPr>
        <p:spPr>
          <a:xfrm>
            <a:off x="6126480" y="1097280"/>
            <a:ext cx="2560320" cy="1325880"/>
          </a:xfrm>
          <a:prstGeom prst="rect">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0" name="Text 8"/>
          <p:cNvSpPr txBox="1"/>
          <p:nvPr/>
        </p:nvSpPr>
        <p:spPr>
          <a:xfrm>
            <a:off x="6309360" y="1188720"/>
            <a:ext cx="2194560" cy="685800"/>
          </a:xfrm>
          <a:prstGeom prst="rect">
            <a:avLst/>
          </a:prstGeom>
          <a:noFill/>
          <a:ln/>
        </p:spPr>
        <p:txBody>
          <a:bodyPr wrap="square" lIns="0" tIns="0" rIns="0" bIns="0" rtlCol="0" anchor="ctr"/>
          <a:lstStyle/>
          <a:p>
            <a:pPr marL="0" indent="0">
              <a:buNone/>
            </a:pPr>
            <a:r>
              <a:rPr lang="en-US" sz="4400" b="1" dirty="0">
                <a:solidFill>
                  <a:schemeClr val="accent6">
                    <a:lumMod val="40000"/>
                    <a:lumOff val="60000"/>
                  </a:schemeClr>
                </a:solidFill>
                <a:latin typeface="+mj-lt" pitchFamily="34" charset="0"/>
                <a:ea typeface="+mj-lt" pitchFamily="34" charset="-122"/>
                <a:cs typeface="+mj-lt" pitchFamily="34" charset="-120"/>
              </a:rPr>
              <a:t>45%</a:t>
            </a:r>
            <a:endParaRPr lang="en-US" sz="4400" dirty="0">
              <a:solidFill>
                <a:schemeClr val="accent6">
                  <a:lumMod val="40000"/>
                  <a:lumOff val="60000"/>
                </a:schemeClr>
              </a:solidFill>
            </a:endParaRPr>
          </a:p>
        </p:txBody>
      </p:sp>
      <p:sp>
        <p:nvSpPr>
          <p:cNvPr id="11" name="Text 9"/>
          <p:cNvSpPr txBox="1"/>
          <p:nvPr/>
        </p:nvSpPr>
        <p:spPr>
          <a:xfrm>
            <a:off x="6309360" y="1874520"/>
            <a:ext cx="2194560" cy="457200"/>
          </a:xfrm>
          <a:prstGeom prst="rect">
            <a:avLst/>
          </a:prstGeom>
          <a:noFill/>
          <a:ln/>
        </p:spPr>
        <p:txBody>
          <a:bodyPr wrap="square" lIns="0" tIns="0" rIns="0" bIns="0" rtlCol="0" anchor="ctr"/>
          <a:lstStyle/>
          <a:p>
            <a:pPr marL="0" indent="0">
              <a:buNone/>
            </a:pPr>
            <a:r>
              <a:rPr lang="en-US" sz="1400" dirty="0">
                <a:solidFill>
                  <a:srgbClr val="5B6B7B"/>
                </a:solidFill>
              </a:rPr>
              <a:t>of top-10 route rides are casual</a:t>
            </a:r>
            <a:endParaRPr lang="en-US" sz="1400" dirty="0"/>
          </a:p>
        </p:txBody>
      </p:sp>
      <p:sp>
        <p:nvSpPr>
          <p:cNvPr id="12" name="Shape 10"/>
          <p:cNvSpPr/>
          <p:nvPr/>
        </p:nvSpPr>
        <p:spPr>
          <a:xfrm>
            <a:off x="457200" y="2697480"/>
            <a:ext cx="8229600" cy="2011680"/>
          </a:xfrm>
          <a:prstGeom prst="rect">
            <a:avLst/>
          </a:prstGeom>
          <a:noFill/>
          <a:ln w="12700">
            <a:solidFill>
              <a:srgbClr val="FFFFFF"/>
            </a:solidFill>
            <a:prstDash val="solid"/>
          </a:ln>
          <a:effectLst>
            <a:outerShdw blurRad="101600" dist="25400" dir="5400000" algn="bl" rotWithShape="0">
              <a:srgbClr val="000000">
                <a:alpha val="12000"/>
              </a:srgbClr>
            </a:outerShdw>
          </a:effectLst>
        </p:spPr>
      </p:sp>
      <p:sp>
        <p:nvSpPr>
          <p:cNvPr id="13" name="Text 11"/>
          <p:cNvSpPr txBox="1"/>
          <p:nvPr/>
        </p:nvSpPr>
        <p:spPr>
          <a:xfrm>
            <a:off x="731520" y="2834640"/>
            <a:ext cx="7680960" cy="1737360"/>
          </a:xfrm>
          <a:prstGeom prst="rect">
            <a:avLst/>
          </a:prstGeom>
          <a:noFill/>
          <a:ln>
            <a:noFill/>
          </a:ln>
        </p:spPr>
        <p:txBody>
          <a:bodyPr wrap="square" lIns="0" tIns="0" rIns="0" bIns="0" rtlCol="0" anchor="ctr"/>
          <a:lstStyle/>
          <a:p>
            <a:pPr marL="342900" indent="-342900">
              <a:spcAft>
                <a:spcPts val="800"/>
              </a:spcAft>
              <a:buSzPct val="100000"/>
              <a:buChar char="•"/>
            </a:pPr>
            <a:r>
              <a:rPr lang="en-US" sz="1600" dirty="0">
                <a:solidFill>
                  <a:srgbClr val="1B2A3A"/>
                </a:solidFill>
              </a:rPr>
              <a:t>Members dominate volume at every top station, so they use the busiest hubs as a routine part of travel.</a:t>
            </a:r>
            <a:endParaRPr lang="en-US" sz="1600" dirty="0"/>
          </a:p>
          <a:p>
            <a:pPr marL="342900" indent="-342900">
              <a:spcAft>
                <a:spcPts val="800"/>
              </a:spcAft>
              <a:buSzPct val="100000"/>
              <a:buChar char="•"/>
            </a:pPr>
            <a:r>
              <a:rPr lang="en-US" sz="1600" dirty="0">
                <a:solidFill>
                  <a:srgbClr val="1B2A3A"/>
                </a:solidFill>
              </a:rPr>
              <a:t>Casual riders show up most on routes: three top routes are casual-majority, and all top routes are round trips.</a:t>
            </a:r>
            <a:endParaRPr lang="en-US" sz="1600" dirty="0"/>
          </a:p>
          <a:p>
            <a:pPr marL="342900" indent="-342900">
              <a:buSzPct val="100000"/>
              <a:buChar char="•"/>
            </a:pPr>
            <a:r>
              <a:rPr lang="en-US" sz="1600" dirty="0">
                <a:solidFill>
                  <a:srgbClr val="1B2A3A"/>
                </a:solidFill>
              </a:rPr>
              <a:t>Casual activity clusters at a few stations, which makes targeted conversion offers practical.</a:t>
            </a:r>
            <a:endParaRPr lang="en-US" sz="1600" dirty="0"/>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l"/>
            <a:fld id="{F7021451-1387-4CA6-816F-3879F97B5CBC}" type="slidenum">
              <a:rPr lang="en-US" b="0"/>
              <a:t>7</a:t>
            </a:fld>
            <a:endParaRPr lang="en-US"/>
          </a:p>
        </p:txBody>
      </p:sp>
      <p:sp>
        <p:nvSpPr>
          <p:cNvPr id="14" name="TextBox 13"/>
          <p:cNvSpPr txBox="1"/>
          <p:nvPr/>
        </p:nvSpPr>
        <p:spPr>
          <a:xfrm>
            <a:off x="2133600" y="501135"/>
            <a:ext cx="5006340" cy="400110"/>
          </a:xfrm>
          <a:prstGeom prst="rect">
            <a:avLst/>
          </a:prstGeom>
          <a:noFill/>
        </p:spPr>
        <p:txBody>
          <a:bodyPr wrap="square" rtlCol="0">
            <a:spAutoFit/>
          </a:bodyPr>
          <a:lstStyle/>
          <a:p>
            <a:r>
              <a:rPr lang="en-US" sz="2000" b="1" u="sng" dirty="0">
                <a:solidFill>
                  <a:schemeClr val="bg1"/>
                </a:solidFill>
              </a:rPr>
              <a:t>Key Findings: Casual vs. Member </a:t>
            </a:r>
            <a:r>
              <a:rPr lang="en-US" sz="2000" b="1" u="sng" dirty="0" smtClean="0">
                <a:solidFill>
                  <a:schemeClr val="bg1"/>
                </a:solidFill>
              </a:rPr>
              <a:t>Behavior</a:t>
            </a:r>
            <a:endParaRPr lang="en-US" sz="2000" b="1" u="sng"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0" y="0"/>
            <a:ext cx="6858000" cy="0"/>
          </a:xfrm>
          <a:prstGeom prst="rect">
            <a:avLst/>
          </a:prstGeom>
          <a:noFill/>
          <a:ln/>
        </p:spPr>
        <p:txBody>
          <a:bodyPr wrap="square" rtlCol="0"/>
          <a:lstStyle/>
          <a:p>
            <a:pPr marL="0" indent="0">
              <a:buNone/>
            </a:pPr>
            <a:endParaRPr lang="en-US" dirty="0"/>
          </a:p>
        </p:txBody>
      </p:sp>
      <p:sp>
        <p:nvSpPr>
          <p:cNvPr id="3" name="Shape 1"/>
          <p:cNvSpPr/>
          <p:nvPr/>
        </p:nvSpPr>
        <p:spPr>
          <a:xfrm>
            <a:off x="601980" y="1097280"/>
            <a:ext cx="2377440" cy="2697480"/>
          </a:xfrm>
          <a:prstGeom prst="rect">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4" name="Shape 2"/>
          <p:cNvSpPr/>
          <p:nvPr/>
        </p:nvSpPr>
        <p:spPr>
          <a:xfrm>
            <a:off x="693420" y="1280160"/>
            <a:ext cx="548640" cy="548640"/>
          </a:xfrm>
          <a:prstGeom prst="ellipse">
            <a:avLst/>
          </a:prstGeom>
          <a:solidFill>
            <a:schemeClr val="accent6">
              <a:lumMod val="40000"/>
              <a:lumOff val="60000"/>
            </a:schemeClr>
          </a:solidFill>
          <a:ln w="12700">
            <a:noFill/>
            <a:prstDash val="solid"/>
          </a:ln>
        </p:spPr>
      </p:sp>
      <p:pic>
        <p:nvPicPr>
          <p:cNvPr id="5" name="Image 0" descr="preencoded.png"/>
          <p:cNvPicPr>
            <a:picLocks noChangeAspect="1"/>
          </p:cNvPicPr>
          <p:nvPr/>
        </p:nvPicPr>
        <p:blipFill>
          <a:blip r:embed="rId3"/>
          <a:stretch>
            <a:fillRect/>
          </a:stretch>
        </p:blipFill>
        <p:spPr>
          <a:xfrm>
            <a:off x="830580" y="1417320"/>
            <a:ext cx="274320" cy="274320"/>
          </a:xfrm>
          <a:prstGeom prst="rect">
            <a:avLst/>
          </a:prstGeom>
        </p:spPr>
      </p:pic>
      <p:sp>
        <p:nvSpPr>
          <p:cNvPr id="6" name="Text 3"/>
          <p:cNvSpPr txBox="1"/>
          <p:nvPr/>
        </p:nvSpPr>
        <p:spPr>
          <a:xfrm>
            <a:off x="693420" y="1920240"/>
            <a:ext cx="2194560" cy="365760"/>
          </a:xfrm>
          <a:prstGeom prst="rect">
            <a:avLst/>
          </a:prstGeom>
          <a:noFill/>
          <a:ln/>
        </p:spPr>
        <p:txBody>
          <a:bodyPr wrap="square" lIns="0" tIns="0" rIns="0" bIns="0" rtlCol="0" anchor="ctr"/>
          <a:lstStyle/>
          <a:p>
            <a:pPr marL="0" indent="0">
              <a:buNone/>
            </a:pPr>
            <a:r>
              <a:rPr lang="en-US" sz="1600" b="1" dirty="0">
                <a:solidFill>
                  <a:srgbClr val="0F2A43"/>
                </a:solidFill>
              </a:rPr>
              <a:t>1. Location-based onboarding</a:t>
            </a:r>
            <a:endParaRPr lang="en-US" sz="1600" dirty="0"/>
          </a:p>
        </p:txBody>
      </p:sp>
      <p:sp>
        <p:nvSpPr>
          <p:cNvPr id="7" name="Text 4"/>
          <p:cNvSpPr txBox="1"/>
          <p:nvPr/>
        </p:nvSpPr>
        <p:spPr>
          <a:xfrm>
            <a:off x="693420" y="2331720"/>
            <a:ext cx="2194560" cy="1371600"/>
          </a:xfrm>
          <a:prstGeom prst="rect">
            <a:avLst/>
          </a:prstGeom>
          <a:noFill/>
          <a:ln/>
        </p:spPr>
        <p:txBody>
          <a:bodyPr wrap="square" lIns="0" tIns="0" rIns="0" bIns="0" rtlCol="0" anchor="t"/>
          <a:lstStyle/>
          <a:p>
            <a:pPr marL="0" indent="0">
              <a:buNone/>
            </a:pPr>
            <a:r>
              <a:rPr lang="en-US" sz="1400" dirty="0">
                <a:solidFill>
                  <a:srgbClr val="1B2A3A"/>
                </a:solidFill>
              </a:rPr>
              <a:t>Place QR-code sign-up offers at the top 5 casual-heavy start stations, led by Clark St &amp; Elm St (246 casual rides).</a:t>
            </a:r>
            <a:endParaRPr lang="en-US" sz="1400" dirty="0"/>
          </a:p>
        </p:txBody>
      </p:sp>
      <p:sp>
        <p:nvSpPr>
          <p:cNvPr id="8" name="Shape 5"/>
          <p:cNvSpPr/>
          <p:nvPr/>
        </p:nvSpPr>
        <p:spPr>
          <a:xfrm>
            <a:off x="3314700" y="1098673"/>
            <a:ext cx="2377440" cy="2697480"/>
          </a:xfrm>
          <a:prstGeom prst="rect">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9" name="Shape 6"/>
          <p:cNvSpPr/>
          <p:nvPr/>
        </p:nvSpPr>
        <p:spPr>
          <a:xfrm>
            <a:off x="3474720" y="1280160"/>
            <a:ext cx="548640" cy="548640"/>
          </a:xfrm>
          <a:prstGeom prst="ellipse">
            <a:avLst/>
          </a:prstGeom>
          <a:solidFill>
            <a:srgbClr val="3B6FA6"/>
          </a:solidFill>
          <a:ln w="12700">
            <a:solidFill>
              <a:srgbClr val="3B6FA6"/>
            </a:solidFill>
            <a:prstDash val="solid"/>
          </a:ln>
        </p:spPr>
      </p:sp>
      <p:pic>
        <p:nvPicPr>
          <p:cNvPr id="10" name="Image 1" descr="preencoded.png"/>
          <p:cNvPicPr>
            <a:picLocks noChangeAspect="1"/>
          </p:cNvPicPr>
          <p:nvPr/>
        </p:nvPicPr>
        <p:blipFill>
          <a:blip r:embed="rId4"/>
          <a:stretch>
            <a:fillRect/>
          </a:stretch>
        </p:blipFill>
        <p:spPr>
          <a:xfrm>
            <a:off x="3611880" y="1391281"/>
            <a:ext cx="274320" cy="274320"/>
          </a:xfrm>
          <a:prstGeom prst="rect">
            <a:avLst/>
          </a:prstGeom>
        </p:spPr>
      </p:pic>
      <p:sp>
        <p:nvSpPr>
          <p:cNvPr id="11" name="Text 7"/>
          <p:cNvSpPr txBox="1"/>
          <p:nvPr/>
        </p:nvSpPr>
        <p:spPr>
          <a:xfrm>
            <a:off x="3474720" y="1932170"/>
            <a:ext cx="2194560" cy="365760"/>
          </a:xfrm>
          <a:prstGeom prst="rect">
            <a:avLst/>
          </a:prstGeom>
          <a:noFill/>
          <a:ln/>
        </p:spPr>
        <p:txBody>
          <a:bodyPr wrap="square" lIns="0" tIns="0" rIns="0" bIns="0" rtlCol="0" anchor="ctr"/>
          <a:lstStyle/>
          <a:p>
            <a:pPr marL="0" indent="0">
              <a:buNone/>
            </a:pPr>
            <a:r>
              <a:rPr lang="en-US" sz="1600" b="1" dirty="0">
                <a:solidFill>
                  <a:srgbClr val="0F2A43"/>
                </a:solidFill>
              </a:rPr>
              <a:t>2. Route-based incentives</a:t>
            </a:r>
            <a:endParaRPr lang="en-US" sz="1600" dirty="0"/>
          </a:p>
        </p:txBody>
      </p:sp>
      <p:sp>
        <p:nvSpPr>
          <p:cNvPr id="12" name="Text 8"/>
          <p:cNvSpPr txBox="1"/>
          <p:nvPr/>
        </p:nvSpPr>
        <p:spPr>
          <a:xfrm>
            <a:off x="3474720" y="2361241"/>
            <a:ext cx="2194560" cy="1371600"/>
          </a:xfrm>
          <a:prstGeom prst="rect">
            <a:avLst/>
          </a:prstGeom>
          <a:noFill/>
          <a:ln/>
        </p:spPr>
        <p:txBody>
          <a:bodyPr wrap="square" lIns="0" tIns="0" rIns="0" bIns="0" rtlCol="0" anchor="t"/>
          <a:lstStyle/>
          <a:p>
            <a:pPr marL="0" indent="0">
              <a:buNone/>
            </a:pPr>
            <a:r>
              <a:rPr lang="en-US" sz="1400" dirty="0">
                <a:solidFill>
                  <a:srgbClr val="1B2A3A"/>
                </a:solidFill>
              </a:rPr>
              <a:t>Offer a casual-to-member upgrade discount to riders finishing trips on top casual routes, such as Wells St &amp; Elm St.</a:t>
            </a:r>
            <a:endParaRPr lang="en-US" sz="1400" dirty="0"/>
          </a:p>
        </p:txBody>
      </p:sp>
      <p:sp>
        <p:nvSpPr>
          <p:cNvPr id="13" name="Shape 9"/>
          <p:cNvSpPr/>
          <p:nvPr/>
        </p:nvSpPr>
        <p:spPr>
          <a:xfrm>
            <a:off x="6073140" y="1098673"/>
            <a:ext cx="2377440" cy="2697480"/>
          </a:xfrm>
          <a:prstGeom prst="rect">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sp>
      <p:sp>
        <p:nvSpPr>
          <p:cNvPr id="14" name="Shape 10"/>
          <p:cNvSpPr/>
          <p:nvPr/>
        </p:nvSpPr>
        <p:spPr>
          <a:xfrm>
            <a:off x="6263640" y="1301890"/>
            <a:ext cx="548640" cy="548640"/>
          </a:xfrm>
          <a:prstGeom prst="ellipse">
            <a:avLst/>
          </a:prstGeom>
          <a:solidFill>
            <a:schemeClr val="accent6">
              <a:lumMod val="40000"/>
              <a:lumOff val="60000"/>
            </a:schemeClr>
          </a:solidFill>
          <a:ln w="12700">
            <a:noFill/>
            <a:prstDash val="solid"/>
          </a:ln>
        </p:spPr>
      </p:sp>
      <p:pic>
        <p:nvPicPr>
          <p:cNvPr id="15" name="Image 2" descr="preencoded.png"/>
          <p:cNvPicPr>
            <a:picLocks noChangeAspect="1"/>
          </p:cNvPicPr>
          <p:nvPr/>
        </p:nvPicPr>
        <p:blipFill>
          <a:blip r:embed="rId5"/>
          <a:stretch>
            <a:fillRect/>
          </a:stretch>
        </p:blipFill>
        <p:spPr>
          <a:xfrm>
            <a:off x="6400800" y="1439050"/>
            <a:ext cx="274320" cy="274320"/>
          </a:xfrm>
          <a:prstGeom prst="rect">
            <a:avLst/>
          </a:prstGeom>
        </p:spPr>
      </p:pic>
      <p:sp>
        <p:nvSpPr>
          <p:cNvPr id="16" name="Text 11"/>
          <p:cNvSpPr txBox="1"/>
          <p:nvPr/>
        </p:nvSpPr>
        <p:spPr>
          <a:xfrm>
            <a:off x="6217920" y="1924943"/>
            <a:ext cx="2194560" cy="365760"/>
          </a:xfrm>
          <a:prstGeom prst="rect">
            <a:avLst/>
          </a:prstGeom>
          <a:noFill/>
          <a:ln/>
        </p:spPr>
        <p:txBody>
          <a:bodyPr wrap="square" lIns="0" tIns="0" rIns="0" bIns="0" rtlCol="0" anchor="ctr"/>
          <a:lstStyle/>
          <a:p>
            <a:pPr marL="0" indent="0">
              <a:buNone/>
            </a:pPr>
            <a:r>
              <a:rPr lang="en-US" sz="1600" b="1" dirty="0">
                <a:solidFill>
                  <a:srgbClr val="0F2A43"/>
                </a:solidFill>
              </a:rPr>
              <a:t>3. Strategic timing</a:t>
            </a:r>
            <a:endParaRPr lang="en-US" sz="1600" dirty="0"/>
          </a:p>
        </p:txBody>
      </p:sp>
      <p:sp>
        <p:nvSpPr>
          <p:cNvPr id="17" name="Text 12"/>
          <p:cNvSpPr txBox="1"/>
          <p:nvPr/>
        </p:nvSpPr>
        <p:spPr>
          <a:xfrm>
            <a:off x="6217920" y="2331720"/>
            <a:ext cx="2194560" cy="1371600"/>
          </a:xfrm>
          <a:prstGeom prst="rect">
            <a:avLst/>
          </a:prstGeom>
          <a:noFill/>
          <a:ln/>
        </p:spPr>
        <p:txBody>
          <a:bodyPr wrap="square" lIns="0" tIns="0" rIns="0" bIns="0" rtlCol="0" anchor="t"/>
          <a:lstStyle/>
          <a:p>
            <a:pPr marL="0" indent="0">
              <a:buNone/>
            </a:pPr>
            <a:r>
              <a:rPr lang="en-US" sz="1400" dirty="0">
                <a:solidFill>
                  <a:srgbClr val="1B2A3A"/>
                </a:solidFill>
              </a:rPr>
              <a:t>Send push notifications during peak casual-activity windows, confirmed with the time-of-day fields.</a:t>
            </a:r>
            <a:endParaRPr lang="en-US" sz="1400" dirty="0"/>
          </a:p>
        </p:txBody>
      </p:sp>
      <p:sp>
        <p:nvSpPr>
          <p:cNvPr id="19" name="Text 14"/>
          <p:cNvSpPr txBox="1"/>
          <p:nvPr/>
        </p:nvSpPr>
        <p:spPr>
          <a:xfrm>
            <a:off x="640080" y="3977640"/>
            <a:ext cx="7863840" cy="731520"/>
          </a:xfrm>
          <a:prstGeom prst="rect">
            <a:avLst/>
          </a:prstGeom>
          <a:noFill/>
          <a:ln/>
        </p:spPr>
        <p:txBody>
          <a:bodyPr wrap="square" lIns="0" tIns="0" rIns="0" bIns="0" rtlCol="0" anchor="ctr"/>
          <a:lstStyle/>
          <a:p>
            <a:pPr marL="0" indent="0">
              <a:buNone/>
            </a:pPr>
            <a:r>
              <a:rPr lang="en-US" sz="1400" dirty="0"/>
              <a:t>Next steps: validate the timing windows, then repeat the analysis on a full year. April 2020 is a single, unusual month.</a:t>
            </a:r>
          </a:p>
        </p:txBody>
      </p:sp>
      <p:sp>
        <p:nvSpPr>
          <p:cNvPr id="25" name="Slide Number Placeholder 0"/>
          <p:cNvSpPr>
            <a:spLocks noGrp="1"/>
          </p:cNvSpPr>
          <p:nvPr>
            <p:ph type="sldNum" sz="quarter" idx="4294967295"/>
          </p:nvPr>
        </p:nvSpPr>
        <p:spPr>
          <a:xfrm>
            <a:off x="8412480" y="48006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5B6B7B"/>
                </a:solidFill>
              </a:defRPr>
            </a:lvl1pPr>
          </a:lstStyle>
          <a:p>
            <a:pPr algn="l"/>
            <a:fld id="{F7021451-1387-4CA6-816F-3879F97B5CBC}" type="slidenum">
              <a:rPr lang="en-US" b="0"/>
              <a:t>8</a:t>
            </a:fld>
            <a:endParaRPr lang="en-US"/>
          </a:p>
        </p:txBody>
      </p:sp>
      <p:sp>
        <p:nvSpPr>
          <p:cNvPr id="20" name="TextBox 19"/>
          <p:cNvSpPr txBox="1"/>
          <p:nvPr/>
        </p:nvSpPr>
        <p:spPr>
          <a:xfrm>
            <a:off x="1655064" y="474702"/>
            <a:ext cx="6269736" cy="400110"/>
          </a:xfrm>
          <a:prstGeom prst="rect">
            <a:avLst/>
          </a:prstGeom>
          <a:noFill/>
        </p:spPr>
        <p:txBody>
          <a:bodyPr wrap="square" rtlCol="0">
            <a:spAutoFit/>
          </a:bodyPr>
          <a:lstStyle/>
          <a:p>
            <a:r>
              <a:rPr lang="en-US" sz="2000" b="1" u="sng" dirty="0">
                <a:solidFill>
                  <a:schemeClr val="bg1"/>
                </a:solidFill>
              </a:rPr>
              <a:t>Recommendations: Convert Casual Riders to </a:t>
            </a:r>
            <a:r>
              <a:rPr lang="en-US" sz="2000" b="1" u="sng" dirty="0" smtClean="0">
                <a:solidFill>
                  <a:schemeClr val="bg1"/>
                </a:solidFill>
              </a:rPr>
              <a:t>Members</a:t>
            </a:r>
            <a:endParaRPr lang="en-US" sz="2000" b="1" u="sng" dirty="0">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47216" y="2023872"/>
            <a:ext cx="6516624" cy="923330"/>
          </a:xfrm>
          <a:prstGeom prst="rect">
            <a:avLst/>
          </a:prstGeom>
          <a:noFill/>
        </p:spPr>
        <p:txBody>
          <a:bodyPr wrap="square" rtlCol="0">
            <a:spAutoFit/>
          </a:bodyPr>
          <a:lstStyle/>
          <a:p>
            <a:pPr algn="ctr"/>
            <a:r>
              <a:rPr lang="en-US" sz="5400" dirty="0" smtClean="0">
                <a:solidFill>
                  <a:schemeClr val="bg1"/>
                </a:solidFill>
              </a:rPr>
              <a:t>THANK YOU</a:t>
            </a:r>
            <a:endParaRPr lang="en-US" sz="5400" dirty="0">
              <a:solidFill>
                <a:schemeClr val="bg1"/>
              </a:solidFill>
            </a:endParaRPr>
          </a:p>
        </p:txBody>
      </p:sp>
    </p:spTree>
    <p:extLst>
      <p:ext uri="{BB962C8B-B14F-4D97-AF65-F5344CB8AC3E}">
        <p14:creationId xmlns:p14="http://schemas.microsoft.com/office/powerpoint/2010/main" val="313106366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AB946B"/>
      </a:accent1>
      <a:accent2>
        <a:srgbClr val="C04F32"/>
      </a:accent2>
      <a:accent3>
        <a:srgbClr val="DD8C3C"/>
      </a:accent3>
      <a:accent4>
        <a:srgbClr val="8E684C"/>
      </a:accent4>
      <a:accent5>
        <a:srgbClr val="CBAF62"/>
      </a:accent5>
      <a:accent6>
        <a:srgbClr val="803348"/>
      </a:accent6>
      <a:hlink>
        <a:srgbClr val="86724D"/>
      </a:hlink>
      <a:folHlink>
        <a:srgbClr val="B99E84"/>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A2BEDC8B-F191-493B-BA33-0F4F800A89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TotalTime>
  <Words>1521</Words>
  <Application>Microsoft Office PowerPoint</Application>
  <PresentationFormat>On-screen Show (16:9)</PresentationFormat>
  <Paragraphs>92</Paragraphs>
  <Slides>9</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Garamond</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Cyclistic Bike-Share Case Study</dc:title>
  <dc:subject>PptxGenJS Presentation</dc:subject>
  <dc:creator>PptxGenJS</dc:creator>
  <cp:lastModifiedBy>Sanjana</cp:lastModifiedBy>
  <cp:revision>10</cp:revision>
  <dcterms:created xsi:type="dcterms:W3CDTF">2026-10-03T14:19:55Z</dcterms:created>
  <dcterms:modified xsi:type="dcterms:W3CDTF">2026-10-03T16:28:35Z</dcterms:modified>
</cp:coreProperties>
</file>